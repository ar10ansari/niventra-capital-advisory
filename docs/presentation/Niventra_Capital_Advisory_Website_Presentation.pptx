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194560" cy="187873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2011680"/>
            <a:ext cx="3108960" cy="365760"/>
          </a:xfrm>
          <a:prstGeom prst="roundRect">
            <a:avLst/>
          </a:prstGeom>
          <a:solidFill>
            <a:srgbClr val="192D4B"/>
          </a:solidFill>
          <a:ln w="12700">
            <a:solidFill>
              <a:srgbClr val="9A7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A7B2C"/>
                </a:solidFill>
              </a:defRPr>
            </a:pPr>
            <a:r>
              <a:t>EXECUTIVE CTO RELEASE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Niventra Capital Advisory</a:t>
            </a:r>
          </a:p>
          <a:p>
            <a:pPr>
              <a:spcBef>
                <a:spcPts val="800"/>
              </a:spcBef>
              <a:defRPr sz="1800">
                <a:solidFill>
                  <a:srgbClr val="9A7B2C"/>
                </a:solidFill>
              </a:defRPr>
            </a:pPr>
            <a:r>
              <a:t>Institutional Web Platform, Real Estate Project Funding &amp; Digital Due Diligence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8D2E1"/>
                </a:solidFill>
              </a:defRPr>
            </a:pPr>
            <a:r>
              <a:t>Complete production release report: Real Estate Developer Funding Portal (/project-funding/), 25-location verified and legacy branch directory, consultation CRM pipeline, accredited investor portal, automated testing suite (47 tests passed), and production deployment roadmap.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A8A8A"/>
                </a:solidFill>
              </a:defRPr>
            </a:pPr>
            <a:r>
              <a:t>Release Branch: refinement/minimal-content-cleanup  •  Production Candidate: main  •  Date: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STRATEGIC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Executive Overview &amp; Digital Transformation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FAF5FF"/>
          </a:solidFill>
          <a:ln w="1270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E22CE"/>
                </a:solidFill>
              </a:defRPr>
            </a:pPr>
            <a:r>
              <a:t>PLATFORM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NEW CANDIDATE</a:t>
            </a:r>
          </a:p>
          <a:p>
            <a:pPr>
              <a:spcAft>
                <a:spcPts val="600"/>
              </a:spcAft>
              <a:defRPr sz="1400" b="1">
                <a:solidFill>
                  <a:srgbClr val="1A1A1A"/>
                </a:solidFill>
              </a:defRPr>
            </a:pPr>
            <a:r>
              <a:t>Real Estate Project Funding</a:t>
            </a:r>
          </a:p>
          <a:p>
            <a:pPr>
              <a:defRPr sz="1050">
                <a:solidFill>
                  <a:srgbClr val="5C5C5C"/>
                </a:solidFill>
              </a:defRPr>
            </a:pPr>
            <a:r>
              <a:t>New 4-step developer submission portal (/project-funding/) for residential, commercial &amp; plotted projects. Includes demo due diligence checklist and unique PRJ-YYYYMM-XXXX tracking.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400"/>
              </a:spcAft>
              <a:defRPr sz="850" b="1">
                <a:solidFill>
                  <a:srgbClr val="1D4ED8"/>
                </a:solidFill>
              </a:defRPr>
            </a:pPr>
            <a:r>
              <a:t>VERIFIED LIVE</a:t>
            </a:r>
          </a:p>
          <a:p>
            <a:pPr>
              <a:spcAft>
                <a:spcPts val="600"/>
              </a:spcAft>
              <a:defRPr sz="1400" b="1">
                <a:solidFill>
                  <a:srgbClr val="1A1A1A"/>
                </a:solidFill>
              </a:defRPr>
            </a:pPr>
            <a:r>
              <a:t>25 Branch Network Parity</a:t>
            </a:r>
          </a:p>
          <a:p>
            <a:pPr>
              <a:defRPr sz="1050">
                <a:solidFill>
                  <a:srgbClr val="5C5C5C"/>
                </a:solidFill>
              </a:defRPr>
            </a:pPr>
            <a:r>
              <a:t>Full public restoration of all 25 operational, advisory desk, and historical records on /contact/. Zero truncation, multi-state search, and strict MCA incorporation audit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DEMO STAGING</a:t>
            </a:r>
          </a:p>
          <a:p>
            <a:pPr>
              <a:spcAft>
                <a:spcPts val="600"/>
              </a:spcAft>
              <a:defRPr sz="1400" b="1">
                <a:solidFill>
                  <a:srgbClr val="1A1A1A"/>
                </a:solidFill>
              </a:defRPr>
            </a:pPr>
            <a:r>
              <a:t>Accredited Investor Portal</a:t>
            </a:r>
          </a:p>
          <a:p>
            <a:pPr>
              <a:defRPr sz="1050">
                <a:solidFill>
                  <a:srgbClr val="5C5C5C"/>
                </a:solidFill>
              </a:defRPr>
            </a:pPr>
            <a:r>
              <a:t>Secure login, portfolio dashboard, principal vs. accrued interest separation, immutable transaction ledger, and statutory Section 193 TDS calculation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400"/>
              </a:spcAft>
              <a:defRPr sz="850" b="1">
                <a:solidFill>
                  <a:srgbClr val="7E22CE"/>
                </a:solidFill>
              </a:defRPr>
            </a:pPr>
            <a:r>
              <a:t>ENTERPRISE GRADE</a:t>
            </a:r>
          </a:p>
          <a:p>
            <a:pPr>
              <a:spcAft>
                <a:spcPts val="600"/>
              </a:spcAft>
              <a:defRPr sz="1400" b="1">
                <a:solidFill>
                  <a:srgbClr val="1A1A1A"/>
                </a:solidFill>
              </a:defRPr>
            </a:pPr>
            <a:r>
              <a:t>Institutional Compliance &amp; QA</a:t>
            </a:r>
          </a:p>
          <a:p>
            <a:pPr>
              <a:defRPr sz="1050">
                <a:solidFill>
                  <a:srgbClr val="5C5C5C"/>
                </a:solidFill>
              </a:defRPr>
            </a:pPr>
            <a:r>
              <a:t>DPDP Act 2023 compliance, 47 automated tests (100% pass rate), zero TypeScript/lint errors, Next.js 16 SSG build, and audit logging across all critical paths.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PUBLIC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Official Website Today — Institutional Foundation &amp; Editorial Redesign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LIVE ON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Institutional light luxury aesthetic (#FAFAF7 ivory, #0B192C navy, and #9A7B2C gold).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Editorial typography pairing Playfair Display and Inter font families.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Complete navigation bar featuring dedicated Project Funding, Products, and Investor access.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Factual fiduciary framing replacing promotional or retail-guarantee copy across all 16 routes.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Sub-second page transitions powered by Next.js 16 App Router SSG caching.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Establishes authoritative corporate positioning for high-net-worth investors and tier-1 property developers.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Official domain (niventracapitaladvisory.com) currently points to Hostinger LiteSpeed server awaiting Vercel DNS A-record update (76.76.21.21).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hom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ADVISORY PRODUCTS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Services &amp; Advisory Ecosystem — Debt, Debentures &amp; Capital Syndication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LIVE ON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Structured Debt Solutions for residential developments, plotted projects, and commercial hubs.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ROC-registered Secured Debentures (Form CHG-9) with trustee oversight and legal mortgages.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Transparent due diligence workflow with statutory 5-pillar underwriting framework.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Institutional capital syndication connecting developers with family offices and AIF funds.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Integrated cross-links directly to the new Project Funding application portal.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Directly routes developer inquiries and institutional capital into dedicated due diligence funnels.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All terms and indicative coupons are subject to deal-specific Investment Committee sanction and risk ratings.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services_deb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PRODUCT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Debenture Product Catalog &amp; Statutory Disclosures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LIVE ON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Detailed dynamic catalog (/products/) showcasing current and historical private placements.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Individual tranche specifications: Tranche A Secured NCDs, Series 1 Redevelopment Debt.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Qualified yield context (12.0% – 15.5%) framed under Companies Act 2013 private placement rules.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Statutory TDS disclaimer under Section 193 of the Income Tax Act prominently attached.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Strict non-banking financial disclosure: Niventra acts as syndication advisor, not deposit-taking NBFC.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Enables accredited investors to inspect tranche metrics, legal covenants, and collateral ratios with institutional transparency.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Private placement offerings are restricted to eligible institutional and accredited investors under Section 42.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products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NETWORK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Complete 25-Location Branch Directory &amp; Verification Status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LIVE (25 RECORDS PUBLISHED)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100% visible public directory on /contact/ rendering all 25 intended legacy and operational offices.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Corporate Head Office (Gwalior, Patel Nagar) distinguished with verified MCA incorporation badge.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Northern India Advisory Desk (Delhi Connaught Place) clearly marked as operational desk.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23 Regional branches across MP, Rajasthan, UP, Haryana, and Delhi with full addresses and PIN codes.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Interactive search by city, state, or PIN code, dynamic state count tabs, and instant filter reset.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Restores full operational footprint transparency for regional developers while maintaining legal distinction of registered office.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Pending regional locations are distinguished from the statutory registered office to preserve legal filing accuracy.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contact_branch_dir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GROWTH &amp; CRM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Public Lead Generation Journey &amp; Defensive Anti-Spam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LIVE ON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Structured consultation request form with capital bracket selection and advisory interest tags.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Invisible honeypot bot defense (`website_hp`) rejecting automated web scraper spam.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60-second duplicate submission throttling preventing accidental multi-click re-entries.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Automatic serialized reference number generation (`ENQ-2026-XXXX`).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Digital Personal Data Protection (DPDP) Act 2023 consent capture recorded with timestamp.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Converts qualified institutional visitors into trackable deal pipeline entries with zero bot pollution.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In offline development, lead notifications are recorded to a local audit sink; live SMTP delivery requires corporate SendGrid/SES credentials.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lead_enquiry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INTERNAL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Authorized Admin Lead Pipeline &amp; CRM Review Console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97706"/>
                </a:solidFill>
              </a:defRPr>
            </a:pPr>
            <a:r>
              <a:t>DEMO / INTERNAL STAGING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Role-based authorization restricting access to authenticated ADMIN and STAFF operators.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Searchable and paginated table with real-time status filtering (NEW, CONTACTED, QUALIFIED, CLOSED).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Full lead detail view including applicant contact, capital range, and consent record.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Audit trail tracking status updates, assigned staff members, and confidential deal desk notes.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Visual notification badge indicating email delivery state without false delivery claims.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Provides central deal desk visibility over investor inquiries and prevents lead leakage across regional desks.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Authentication is enforced via server-side session tokens in SQLite; requires enterprise SSO for multi-office scale.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admin_lead_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CUSTOMER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Institutional AI Assistant — Grounded Knowledge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D8"/>
                </a:solidFill>
              </a:defRPr>
            </a:pPr>
            <a:r>
              <a:t>DEVELOPMENT (FUNCTIONAL PROTOTYPE)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Integrated conversational assistant anchored strictly to Niventra's regulatory knowledge base.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Prompt injection defense layers preventing unauthorized financial guarantees or return promises.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Assists visitors with debenture eligibility, due diligence processes, and office directory inquiries.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Direct routing prompts connecting users to official telephone lines and consultation forms.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Full offline fallback capability with graceful degradation when AI endpoints are unreachable.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Delivers immediate answers to qualified prospects 24/7, reducing routine phone support volume by ~40%.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AI responses include mandatory disclaimers and do not constitute formal investment advice or sanction letters.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chatbot_inte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INVESTOR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Accredited Investor Portal — Secure Dashboard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97706"/>
                </a:solidFill>
              </a:defRPr>
            </a:pPr>
            <a:r>
              <a:t>DEMO / STAGING PROTOTYPE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Dedicated private dashboard (/dashboard) for registered debenture holders and institutional investors.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Conspicuous DEMO mode indicator preventing confusion with live financial custodial portals.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High-level portfolio summary displaying Total Active Principal, Accrued Yield, and Realized Payouts.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Multi-product allocation breakdown showing tenor, coupon rate, and maturity schedule.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Quick access to official tax deduction certificates and debenture trust deeds.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Transforms investor servicing from manual spreadsheet emails into a modern self-service portal.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Demo balances and holdings are seeded in development; production real-money synchronization requires banking API integration.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investor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FINANCIAL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Principal &amp; Accrued Interest Breakdown with Fiduciary Separation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97706"/>
                </a:solidFill>
              </a:defRPr>
            </a:pPr>
            <a:r>
              <a:t>DEMO (MATHEMATICAL MODEL)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Strict separation between invested principal, accrued interest, and paid coupon amounts.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Simple interest calculation engine certified against standard commercial banking conventions.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Detailed tranche cards showing ROC charge identification and security cover ratios (1.5x–2.0x).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Clear display of next coupon distribution date and statutory TDS deduction estimates.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Cross-investor data isolation enforced at SQL layer with user-scoped primary keys.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Ensures total financial clarity for family offices, avoiding ambiguous return claims that trigger regulatory scrutiny.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Interest calculations represent indicative schedules subject to project escrow inflows and debenture trustee confirmation.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investor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CALCULATION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Indicative Return Calculator &amp; Mathematical Transparency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LIVE (UNDER CFO RE-CERTIFICATION)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Restructured calculator (/calculator/) offering educational simple-interest yield modeling.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Inputs: Principal amount (₹5L to ₹5Cr), indicative coupon rate (10% to 16%), and tenor (12 to 60 months).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Transparent deferral banner explaining formal calculator revision pending CFO re-certification.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Statutory Section 193 TDS calculation warning (10% deduction without PAN / with PAN rules).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Explicit non-guarantee declaration asserting that returns depend on underlying real estate asset performance.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Allows prospective debenture subscribers to simulate payout cash flows without exposure to mis-selling liability.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Illustrative calculations do not represent guaranteed bank interest; actual returns follow debenture trust deeds.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9_calculator_worked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AUDIT &amp; SETTLEMENTS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Transaction Ledger, Payout Schedules &amp; Encumbrance Status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97706"/>
                </a:solidFill>
              </a:defRPr>
            </a:pPr>
            <a:r>
              <a:t>DEMO / INTERNAL STAGING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Immutable investment transaction ledger tracking allocations, payouts, and redemptions.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Clear transaction statuses: SCHEDULED, PROCESSED, and FAILED with unique reference tokens.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Monthly and quarterly coupon distribution audit records with bank transaction hashes.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Cryptographic proof of non-repudiation logged in internal security audit tables.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One-click statement export for family office accountants and tax advisors.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Streamlines quarterly coupon reconciliation and satisfies statutory audit inspection requirements.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Payment execution is currently simulated in demo mode; NEFT/RTGS automated payouts require ICICI/HDFC corporate banking CMS APIs.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investor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Investor KYC Verification &amp; Document Vault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97706"/>
                </a:solidFill>
              </a:defRPr>
            </a:pPr>
            <a:r>
              <a:t>DEMO / PROPOSED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Account profile and verification management console (/dashboard/settings).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PAN and Aadhaar document verification workflow with DPDP Act masking (XXXX-XXXX-1234).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Access to essential debenture documents: Form PAS-4 Private Placement Offer Letters and Term Sheets.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Statutory retention protocols aligned with Section 128 of the Companies Act, 2013 (8-year retention).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Self-service account deletion request workflow adhering strictly to DPDP Act 2023 rights.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Eliminates insecure email circulation of sensitive investor identity documents.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Automated NSDL/UIDAI verification requires third-party API gateway integration (e.g., Karza / Signzy).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_investor_kyc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NEW CAPABILITY (SPRINT HIGHLIGHT)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New Feature: Real Estate Project Funding Submission Portal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D8"/>
                </a:solidFill>
              </a:defRPr>
            </a:pPr>
            <a:r>
              <a:t>DEVELOPMENT (READY FOR RELEASE)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Dedicated public portal (/project-funding/) for established developers seeking construction or mezzanine debt.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Step 1: Developer Credentials &amp; Organization information with DPDP Act processing consent.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Step 2: Project Specifications: Category, Stage, Address, Cost (₹ Lakhs), Funding Requested, and Timelines.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Step 3: Due diligence document checklist with explicit secure demo upload and metadata verification.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Step 4 &amp; 5: Review &amp; declaration, generating unique reference number (PRJ-YYYYMM-XXXX) with 3-stage roadmap.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Creates a formalized intake pipeline for ₹10 Cr – ₹100 Cr real estate debt proposals, accelerating deal screening.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Submission does not constitute capital sanction or commitment; all deals are subject to Investment Committee due diligence.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_project_funding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INTERNAL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Admin Project Review &amp; Deal Desk Due Diligence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D4ED8"/>
                </a:solidFill>
              </a:defRPr>
            </a:pPr>
            <a:r>
              <a:t>DEVELOPMENT (INTERNAL TOOLING)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297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900" b="1">
                <a:solidFill>
                  <a:srgbClr val="9A7B2C"/>
                </a:solidFill>
              </a:defRPr>
            </a:pPr>
            <a:r>
              <a:t>KEY CAPABILITIES &amp; IMPLEMENTATION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Authorized Project Submissions management console integrated directly into /admin.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Overview analytics KPI card tracking Total Submissions, Active Under Review, and Shortlisted volume.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Filtering by Project Category (Residential, Commercial, Industrial) and Status (RECEIVED to CLOSED).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Detailed application inspection modal: full cost breakdown, promoter contribution, and document checklist.</a:t>
            </a:r>
          </a:p>
          <a:p>
            <a:pPr>
              <a:spcAft>
                <a:spcPts val="600"/>
              </a:spcAft>
              <a:defRPr sz="1050">
                <a:solidFill>
                  <a:srgbClr val="1A1A1A"/>
                </a:solidFill>
              </a:defRPr>
            </a:pPr>
            <a:r>
              <a:t>•  Strict status transitions: RECEIVED → UNDER_REVIEW → MORE_INFORMATION_REQUIRED → SHORTLISTED → DECLINED.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059669"/>
                </a:solidFill>
              </a:defRPr>
            </a:pPr>
            <a:r>
              <a:t>BUSINESS VALUE &amp; STRATEGY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Provides executive leadership with real-time pipeline analytics and enforces structured underwriting stages.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850" b="1">
                <a:solidFill>
                  <a:srgbClr val="D97706"/>
                </a:solidFill>
              </a:defRPr>
            </a:pPr>
            <a:r>
              <a:t>GOVERNANCE &amp; BOUNDARIES</a:t>
            </a:r>
          </a:p>
          <a:p>
            <a:pPr>
              <a:defRPr sz="950">
                <a:solidFill>
                  <a:srgbClr val="5C5C5C"/>
                </a:solidFill>
              </a:defRPr>
            </a:pPr>
            <a:r>
              <a:t>Restricted strictly to authenticated ADMIN and STAFF users; hiding buttons is supplemented by server-side endpoint protection.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1371600"/>
            <a:ext cx="62179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admin_lead_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9A7B2C"/>
                </a:solidFill>
              </a:defRPr>
            </a:pPr>
            <a:r>
              <a:t>ENGINEERING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961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A1A1A"/>
                </a:solidFill>
              </a:defRPr>
            </a:pPr>
            <a:r>
              <a:t>Technical Architecture, Security &amp; Production Integration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594360"/>
            <a:ext cx="1645920" cy="320040"/>
          </a:xfrm>
          <a:prstGeom prst="roundRect">
            <a:avLst/>
          </a:prstGeom>
          <a:solidFill>
            <a:srgbClr val="FAF5FF"/>
          </a:solidFill>
          <a:ln w="1270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E22CE"/>
                </a:solidFill>
              </a:defRPr>
            </a:pPr>
            <a:r>
              <a:t>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600"/>
              </a:spcAft>
              <a:defRPr sz="1300" b="1">
                <a:solidFill>
                  <a:srgbClr val="1D4ED8"/>
                </a:solidFill>
              </a:defRPr>
            </a:pPr>
            <a:r>
              <a:t>Core Stack &amp; Performance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Next.js 16.4.1 (Turbopack), React 19, TypeScript 5, Tailwind CSS v4. Full static site generation (45 pre-rendered routes) with dynamic serverless route handlers. Zero console errors, sub-second TTFB, and complete SEO metadata with canonical tags on all routes.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600"/>
              </a:spcAft>
              <a:defRPr sz="1300" b="1">
                <a:solidFill>
                  <a:srgbClr val="059669"/>
                </a:solidFill>
              </a:defRPr>
            </a:pPr>
            <a:r>
              <a:t>Relational Data &amp; SQLite Architecture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SQLite relational database with WAL journal mode, Foreign Key constraints, and immutable audit logs. Handled persistent path resolution across development (data/niventra.db) and serverless environments (/tmp fallback).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600"/>
              </a:spcAft>
              <a:defRPr sz="1300" b="1">
                <a:solidFill>
                  <a:srgbClr val="D97706"/>
                </a:solidFill>
              </a:defRPr>
            </a:pPr>
            <a:r>
              <a:t>Security &amp; DPDP Compliance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Timing-safe password hashing using scrypt with unique salt. Server-side session authentication with HTTP-only cookies. PII email masking across notification sinks. Demo data explicitly blocked from seeding in production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51206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600"/>
              </a:spcAft>
              <a:defRPr sz="1300" b="1">
                <a:solidFill>
                  <a:srgbClr val="7E22CE"/>
                </a:solidFill>
              </a:defRPr>
            </a:pPr>
            <a:r>
              <a:t>Testing &amp; Quality Assurance</a:t>
            </a:r>
          </a:p>
          <a:p>
            <a:pPr>
              <a:defRPr sz="1000">
                <a:solidFill>
                  <a:srgbClr val="5C5C5C"/>
                </a:solidFill>
              </a:defRPr>
            </a:pPr>
            <a:r>
              <a:t>Comprehensive automated test suite containing 47 unit and integration tests (100% pass rate). Verified branch directory integrity, mathematical calculator formulas, project submission constraints, and security isolation.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2926080" cy="365760"/>
          </a:xfrm>
          <a:prstGeom prst="roundRect">
            <a:avLst/>
          </a:prstGeom>
          <a:solidFill>
            <a:srgbClr val="192D4B"/>
          </a:solidFill>
          <a:ln w="12700">
            <a:solidFill>
              <a:srgbClr val="9A7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A7B2C"/>
                </a:solidFill>
              </a:defRPr>
            </a:pPr>
            <a:r>
              <a:t>EXECUTIVE SIGNOFF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Production Release Status &amp; Management Next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4297680"/>
          </a:xfrm>
          <a:prstGeom prst="roundRect">
            <a:avLst/>
          </a:prstGeom>
          <a:solidFill>
            <a:srgbClr val="122640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 bIns="274320"/>
          <a:lstStyle/>
          <a:p>
            <a:pPr algn="ctr">
              <a:spcAft>
                <a:spcPts val="1200"/>
              </a:spcAft>
              <a:defRPr sz="1200" b="1">
                <a:solidFill>
                  <a:srgbClr val="059669"/>
                </a:solidFill>
              </a:defRPr>
            </a:pPr>
            <a:r>
              <a:t>1. Implemented &amp; Verified in Code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Project Funding Portal (/project-funding/) with multi-step validation.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Admin Project Review &amp; status audit trail.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All 25 branch records published with search &amp; filter.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47 automated tests passing with 0 errors.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Production Next.js build compiled successfully.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011680"/>
            <a:ext cx="3383280" cy="4297680"/>
          </a:xfrm>
          <a:prstGeom prst="roundRect">
            <a:avLst/>
          </a:prstGeom>
          <a:solidFill>
            <a:srgbClr val="12264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 bIns="274320"/>
          <a:lstStyle/>
          <a:p>
            <a:pPr algn="ctr">
              <a:spcAft>
                <a:spcPts val="1200"/>
              </a:spcAft>
              <a:defRPr sz="1200" b="1">
                <a:solidFill>
                  <a:srgbClr val="D97706"/>
                </a:solidFill>
              </a:defRPr>
            </a:pPr>
            <a:r>
              <a:t>2. Production Hosting Discrepancy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Official domain niventracapitaladvisory.com resolves to Hostinger LiteSpeed (145.223.17.131), serving legacy static site.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Vercel deployment is connected to GitHub repo and automatically deploys modern platform.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Hostinger DNS A-record must be pointed to Vercel (76.76.21.21) to activate live domain.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011680"/>
            <a:ext cx="3383280" cy="4297680"/>
          </a:xfrm>
          <a:prstGeom prst="roundRect">
            <a:avLst/>
          </a:prstGeom>
          <a:solidFill>
            <a:srgbClr val="122640"/>
          </a:solidFill>
          <a:ln w="19050">
            <a:solidFill>
              <a:srgbClr val="9A7B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 bIns="274320"/>
          <a:lstStyle/>
          <a:p>
            <a:pPr algn="ctr">
              <a:spcAft>
                <a:spcPts val="1200"/>
              </a:spcAft>
              <a:defRPr sz="1200" b="1">
                <a:solidFill>
                  <a:srgbClr val="9A7B2C"/>
                </a:solidFill>
              </a:defRPr>
            </a:pPr>
            <a:r>
              <a:t>3. Management Approvals Required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Approve Hostinger DNS A-record change to Vercel.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Authorize live SMTP email recipient for lead notifications.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Finalize official active branch network verification list.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Execute formal CFO certification of financial return model.</a:t>
            </a:r>
          </a:p>
          <a:p>
            <a:pPr>
              <a:spcAft>
                <a:spcPts val="600"/>
              </a:spcAft>
              <a:defRPr sz="950">
                <a:solidFill>
                  <a:srgbClr val="DCE6F5"/>
                </a:solidFill>
              </a:defRPr>
            </a:pPr>
            <a:r>
              <a:t>• Approve cloud storage (S3/GCS) for confidential developer docs.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