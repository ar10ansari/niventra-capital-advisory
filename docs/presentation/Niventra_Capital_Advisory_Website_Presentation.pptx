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2286000" cy="54864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A880"/>
                </a:solidFill>
              </a:defRPr>
            </a:pPr>
            <a:r>
              <a:t>NIVENTRA CAPITAL ADVISORY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Digital Platform Architecture &amp; Investor Experience</a:t>
            </a:r>
          </a:p>
          <a:p>
            <a:pPr>
              <a:defRPr sz="1600">
                <a:solidFill>
                  <a:srgbClr val="C8D2E1"/>
                </a:solidFill>
              </a:defRPr>
            </a:pPr>
            <a:r>
              <a:t>Branch Directory Authenticity • End-to-End Lead Pipeline • Accredited Client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0AFC3"/>
                </a:solidFill>
              </a:defRPr>
            </a:pPr>
            <a:r>
              <a:t>EXECUTIVE MANAGEMENT PRESENTATION • OCTOBER 2026</a:t>
            </a:r>
            <a:br/>
            <a:r>
              <a:t>Presented by: Chief Technology Officer &amp; Digital Product Owner</a:t>
            </a:r>
            <a:br/>
            <a:r>
              <a:t>Environment: Next.js 16.4 • React 19 • TypeScript • Scrypt Cryptography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5A880"/>
                </a:solidFill>
              </a:defRPr>
            </a:pPr>
            <a:r>
              <a:t>NIVENTRA CAPITAL ADVISORY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Executive Overview &amp; Core Sprint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C5A880"/>
                </a:solidFill>
              </a:defRPr>
            </a:pPr>
            <a:r>
              <a:t>Branch Directory Authenticity</a:t>
            </a:r>
          </a:p>
          <a:p>
            <a:pPr>
              <a:defRPr sz="1200">
                <a:solidFill>
                  <a:srgbClr val="5C5C5C"/>
                </a:solidFill>
              </a:defRPr>
            </a:pPr>
            <a:r>
              <a:t>Audit and isolate 24 legacy locality references. Publicly publish only verified Corporate Head Office (Gwalior) while preserving regional points in an internal audit register.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D4ED8"/>
                </a:solidFill>
              </a:defRPr>
            </a:pPr>
            <a:r>
              <a:t>Lead Generation Pipeline</a:t>
            </a:r>
          </a:p>
          <a:p>
            <a:pPr>
              <a:defRPr sz="1200">
                <a:solidFill>
                  <a:srgbClr val="5C5C5C"/>
                </a:solidFill>
              </a:defRPr>
            </a:pPr>
            <a:r>
              <a:t>Build an automated consultation intake journey with bot honeypots, 60s duplicate throttling, serialized reference numbering, and observable mock delivery status.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Accredited Investor Portal</a:t>
            </a:r>
          </a:p>
          <a:p>
            <a:pPr>
              <a:defRPr sz="1200">
                <a:solidFill>
                  <a:srgbClr val="5C5C5C"/>
                </a:solidFill>
              </a:defRPr>
            </a:pPr>
            <a:r>
              <a:t>Establish client workspace with multi-tab holdings ledgers, simple-interest indicative calculation engine, and strict cross-investor authorization guards.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192C"/>
                </a:solidFill>
              </a:defRPr>
            </a:pPr>
            <a:r>
              <a:t>Fiduciary &amp; DPDP Compliance</a:t>
            </a:r>
          </a:p>
          <a:p>
            <a:pPr>
              <a:defRPr sz="1200">
                <a:solidFill>
                  <a:srgbClr val="5C5C5C"/>
                </a:solidFill>
              </a:defRPr>
            </a:pPr>
            <a:r>
              <a:t>Enforce Digital Personal Data Protection Act 2023 consent, PII masking, statutory TDS disclosures under Section 193, and zero unapproved financial claims.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5A880"/>
                </a:solidFill>
              </a:defRPr>
            </a:pPr>
            <a:r>
              <a:t>NIVENTRA CAPITAL ADVISORY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Official Website Baseline Audit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Defect 1: Unverified Branch Directory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Contact page listed 24 regional partner towns (Neemuch, Vidisha, Shivpuri, etc.) lacking street addresses, premise identifiers, or lease documentation. Delhi entry suffered UTF-8 mojibake (â€¢). Gurugram entry had PIN code mismatch.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106984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Defect 2: Ephemeral Lead Storage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Enquiries were written to local/serverless filesystem storage (/tmp). On serverless hosting (Vercel), container termination caused enquiry records to be wiped, with no external email alert sent to staff.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6984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Defect 3: Missing Statutory TDS Caveats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Illustrative returns on debenture products were presented without clear Section 193/194A Income Tax TDS caveats or clear explanation of simple interest vs mutual fund compounding.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5A880"/>
                </a:solidFill>
              </a:defRPr>
            </a:pPr>
            <a:r>
              <a:t>NIVENTRA CAPITAL ADVISORY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Enhanced Institutional Design Direction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B192C"/>
                </a:solidFill>
              </a:defRPr>
            </a:pPr>
            <a:r>
              <a:t>Light Institutional Palette</a:t>
            </a:r>
          </a:p>
          <a:p>
            <a:pPr>
              <a:defRPr sz="1200">
                <a:solidFill>
                  <a:srgbClr val="5C5C5C"/>
                </a:solidFill>
              </a:defRPr>
            </a:pPr>
            <a:r>
              <a:t>Deep navy (#0B192C) anchors institutional gravity, paired with clean ivory backgrounds and subtle gold accents (#C5A880) to reflect private wealth heritage.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B192C"/>
                </a:solidFill>
              </a:defRPr>
            </a:pPr>
            <a:r>
              <a:t>Protected Real-Estate Assets</a:t>
            </a:r>
          </a:p>
          <a:p>
            <a:pPr>
              <a:defRPr sz="1200">
                <a:solidFill>
                  <a:srgbClr val="5C5C5C"/>
                </a:solidFill>
              </a:defRPr>
            </a:pPr>
            <a:r>
              <a:t>All original high-resolution visual assets (re_hero_skyline, re_commercial_grade_a, etc.) and specialized advisory copy remain fully intact.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B192C"/>
                </a:solidFill>
              </a:defRPr>
            </a:pPr>
            <a:r>
              <a:t>Accessible Mobile Typography</a:t>
            </a:r>
          </a:p>
          <a:p>
            <a:pPr>
              <a:defRPr sz="1200">
                <a:solidFill>
                  <a:srgbClr val="5C5C5C"/>
                </a:solidFill>
              </a:defRPr>
            </a:pPr>
            <a:r>
              <a:t>Eliminated aggressive pop-ups and marketing noise. Emphasized crisp typography, high contrast ratios, and touch-target accessibility (min 44px).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5A880"/>
                </a:solidFill>
              </a:defRPr>
            </a:pPr>
            <a:r>
              <a:t>NIVENTRA CAPITAL ADVISORY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Corporate Services &amp; Secured Debenture Structuring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C5A880"/>
                </a:solidFill>
              </a:defRPr>
            </a:pPr>
            <a:r>
              <a:t>Secured Debenture Structuring</a:t>
            </a:r>
          </a:p>
          <a:p>
            <a:pPr>
              <a:defRPr sz="1200">
                <a:solidFill>
                  <a:srgbClr val="5C5C5C"/>
                </a:solidFill>
              </a:defRPr>
            </a:pPr>
            <a:r>
              <a:t>Private placement non-convertible debentures (NCDs) backed by first pari-passu legal charges registered with the Registrar of Companies (ROC Form CHG-9). Structured coupon distributions.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D4ED8"/>
                </a:solidFill>
              </a:defRPr>
            </a:pPr>
            <a:r>
              <a:t>Urban Redevelopment Debt</a:t>
            </a:r>
          </a:p>
          <a:p>
            <a:pPr>
              <a:defRPr sz="1200">
                <a:solidFill>
                  <a:srgbClr val="5C5C5C"/>
                </a:solidFill>
              </a:defRPr>
            </a:pPr>
            <a:r>
              <a:t>Mezzanine and senior credit facilities for urban renewal, residential redevelopment, and commercial revitalization projects with designated escrow cash-flow mechanisms.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Institutional Due Diligence</a:t>
            </a:r>
          </a:p>
          <a:p>
            <a:pPr>
              <a:defRPr sz="1200">
                <a:solidFill>
                  <a:srgbClr val="5C5C5C"/>
                </a:solidFill>
              </a:defRPr>
            </a:pPr>
            <a:r>
              <a:t>Fiduciary risk governance framework: comprehensive asset valuation, promoter background verification, independent title clearance, and debenture trustee oversight.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5A880"/>
                </a:solidFill>
              </a:defRPr>
            </a:pPr>
            <a:r>
              <a:t>NIVENTRA CAPITAL ADVISORY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Branch Directory Architecture &amp; Verification Status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Verified Public Directory (Live)</a:t>
            </a:r>
          </a:p>
          <a:p>
            <a:pPr>
              <a:defRPr sz="1200">
                <a:solidFill>
                  <a:srgbClr val="5C5C5C"/>
                </a:solidFill>
              </a:defRPr>
            </a:pPr>
            <a:r>
              <a:t>• Corporate Head Office (Gwalior): Patel Nagar City Centre, Gwalior - 474001. Verified under MCA filings.</a:t>
            </a:r>
            <a:br/>
            <a:r>
              <a:t>• Delhi Advisory Desk: The Nukleus Center, Shivaji Stadium Metro Station, Connaught Place - 110001 (Marked PENDING CONFIRMATION; in-person by appointment).</a:t>
            </a:r>
            <a:br/>
            <a:r>
              <a:t>• Interactive UI: Instant search by city, state, or PIN code, dynamic state counts, responsive cards.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Internal Audit Registry (Isolated)</a:t>
            </a:r>
          </a:p>
          <a:p>
            <a:pPr>
              <a:defRPr sz="1200">
                <a:solidFill>
                  <a:srgbClr val="5C5C5C"/>
                </a:solidFill>
              </a:defRPr>
            </a:pPr>
            <a:r>
              <a:t>• 22 Regional Locations: Held strictly in legacy-unverified.ts. Not displayed to public.</a:t>
            </a:r>
            <a:br/>
            <a:r>
              <a:t>• Audit Defect Analysis: Identified lack of premise numbers in towns like Neemuch, Vidisha, Sehore.</a:t>
            </a:r>
            <a:br/>
            <a:r>
              <a:t>• Gurugram Discrepancy: Udyog Vihar flagged for PIN 122016 vs legacy 122001.</a:t>
            </a:r>
            <a:br/>
            <a:r>
              <a:t>• Management Protocol: Provided verification checklist requiring physical lease deeds before publishing.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5A880"/>
                </a:solidFill>
              </a:defRPr>
            </a:pPr>
            <a:r>
              <a:t>NIVENTRA CAPITAL ADVISORY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Lead Generation, Deduplication &amp; Safe Dispatch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B192C"/>
                </a:solidFill>
              </a:defRPr>
            </a:pPr>
            <a:r>
              <a:t>1. Bot &amp; Spam Shields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Invisible honeypot field (website_hp) terminates automated submissions. 60-second duplicate submission window rejects identical double-submits idempotently.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4ED8"/>
                </a:solidFill>
              </a:defRPr>
            </a:pPr>
            <a:r>
              <a:t>2. Reference Generation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Unique serialized reference ID (ENQ-2026-0001) generated immediately for tracking across client and staff communication.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5A880"/>
                </a:solidFill>
              </a:defRPr>
            </a:pPr>
            <a:r>
              <a:t>3. Provider-Neutral Dispatch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Decoupled notification adapter dispatches to live email gateway when configured, or writes to safe local audit sink (email_sink.log) in development.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4. Observable Status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Admin console displays transparent badge: 'MOCK SINK (Logged)' vs 'EXTERNAL DISPATCHED'. Never falsely claims delivery.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5A880"/>
                </a:solidFill>
              </a:defRPr>
            </a:pPr>
            <a:r>
              <a:t>NIVENTRA CAPITAL ADVISORY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Accredited Investor Portal &amp; Security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192C"/>
                </a:solidFill>
              </a:defRPr>
            </a:pPr>
            <a:r>
              <a:t>Timing-Safe Cryptography</a:t>
            </a:r>
          </a:p>
          <a:p>
            <a:pPr>
              <a:defRPr sz="1200">
                <a:solidFill>
                  <a:srgbClr val="5C5C5C"/>
                </a:solidFill>
              </a:defRPr>
            </a:pPr>
            <a:r>
              <a:t>Passwords secured with scrypt hashing (64-byte derived keys, 16-byte random salts). Session authentication uses HTTP-only secure cookies with lax same-site policies.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Cross-Investor Isolation</a:t>
            </a:r>
          </a:p>
          <a:p>
            <a:pPr>
              <a:defRPr sz="1200">
                <a:solidFill>
                  <a:srgbClr val="5C5C5C"/>
                </a:solidFill>
              </a:defRPr>
            </a:pPr>
            <a:r>
              <a:t>Strict server-side authorization: regular investors cannot access another investor's records, consultations, or KYC documents by altering URLs or API payloads (403 Forbidden).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C5A880"/>
                </a:solidFill>
              </a:defRPr>
            </a:pPr>
            <a:r>
              <a:t>Role-Based Access Control</a:t>
            </a:r>
          </a:p>
          <a:p>
            <a:pPr>
              <a:defRPr sz="1200">
                <a:solidFill>
                  <a:srgbClr val="5C5C5C"/>
                </a:solidFill>
              </a:defRPr>
            </a:pPr>
            <a:r>
              <a:t>Granular four-tier hierarchy: PUBLIC, INVESTOR, STAFF, and ADMIN. Enforced across all API routes and server components.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D4ED8"/>
                </a:solidFill>
              </a:defRPr>
            </a:pPr>
            <a:r>
              <a:t>Immutable Audit Trails</a:t>
            </a:r>
          </a:p>
          <a:p>
            <a:pPr>
              <a:defRPr sz="1200">
                <a:solidFill>
                  <a:srgbClr val="5C5C5C"/>
                </a:solidFill>
              </a:defRPr>
            </a:pPr>
            <a:r>
              <a:t>Every login, failed authentication, document download, and account status change is recorded in an immutable audit_logs database 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5A880"/>
                </a:solidFill>
              </a:defRPr>
            </a:pPr>
            <a:r>
              <a:t>NIVENTRA CAPITAL ADVISORY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Indicative Yield Calculator &amp; Fiduciary Math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B192C"/>
                </a:solidFill>
              </a:defRPr>
            </a:pPr>
            <a:r>
              <a:t>Mathematical Principles</a:t>
            </a:r>
          </a:p>
          <a:p>
            <a:pPr>
              <a:defRPr sz="1200">
                <a:solidFill>
                  <a:srgbClr val="5C5C5C"/>
                </a:solidFill>
              </a:defRPr>
            </a:pPr>
            <a:r>
              <a:t>• Simple Interest Standard: Private debentures distribute periodic coupon payouts. Unlike mutual fund SIP calculators, they do not compound.</a:t>
            </a:r>
            <a:br/>
            <a:r>
              <a:t>• Strict Input Clamping: Enforces boundary ranges (₹1 Lakh to ₹10 Crore; 12% to 16% p.a.). Guards against non-numeric or negative inputs.</a:t>
            </a:r>
            <a:br/>
            <a:r>
              <a:t>• Payout Frequencies: Monthly, Quarterly, Semi-Annual, Annual, and Cumulative at Maturity.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5A880"/>
                </a:solidFill>
              </a:defRPr>
            </a:pPr>
            <a:r>
              <a:t>Statutory Caveats &amp; Taxes</a:t>
            </a:r>
          </a:p>
          <a:p>
            <a:pPr>
              <a:defRPr sz="1200">
                <a:solidFill>
                  <a:srgbClr val="5C5C5C"/>
                </a:solidFill>
              </a:defRPr>
            </a:pPr>
            <a:r>
              <a:t>• Section 193/194A TDS: Explicitly displays estimated 10% withholding tax on gross coupon interest.</a:t>
            </a:r>
            <a:br/>
            <a:r>
              <a:t>• Non-Guaranteed Disclaimer: Calculations are marked as illustrative arithmetic models, not binding commitments.</a:t>
            </a:r>
            <a:br/>
            <a:r>
              <a:t>• Credit Risk Disclosure: Reminds investors that allocations are subject to Debenture Trust Deeds and borrower credit quality.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5A880"/>
                </a:solidFill>
              </a:defRPr>
            </a:pPr>
            <a:r>
              <a:t>NIVENTRA CAPITAL ADVISORY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Portfolio Holdings, Ledgers &amp; Lifecycle Tracking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192C"/>
                </a:solidFill>
              </a:defRPr>
            </a:pPr>
            <a:r>
              <a:t>Total Principal Invested</a:t>
            </a:r>
          </a:p>
          <a:p>
            <a:pPr>
              <a:defRPr sz="1200">
                <a:solidFill>
                  <a:srgbClr val="5C5C5C"/>
                </a:solidFill>
              </a:defRPr>
            </a:pPr>
            <a:r>
              <a:t>Face value of debentures allocated across approved private placement tranches. Conspicuously marked [DEMO].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192C"/>
                </a:solidFill>
              </a:defRPr>
            </a:pPr>
            <a:r>
              <a:t>Interest Paid to Date</a:t>
            </a:r>
          </a:p>
          <a:p>
            <a:pPr>
              <a:defRPr sz="1200">
                <a:solidFill>
                  <a:srgbClr val="5C5C5C"/>
                </a:solidFill>
              </a:defRPr>
            </a:pPr>
            <a:r>
              <a:t>Certified cash distributions actually disbursed to investor's bank account via CMS/NEFT banking rails.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192C"/>
                </a:solidFill>
              </a:defRPr>
            </a:pPr>
            <a:r>
              <a:t>Accrued Interest (YTD)</a:t>
            </a:r>
          </a:p>
          <a:p>
            <a:pPr>
              <a:defRPr sz="1200">
                <a:solidFill>
                  <a:srgbClr val="5C5C5C"/>
                </a:solidFill>
              </a:defRPr>
            </a:pPr>
            <a:r>
              <a:t>Interest accrued in accounting system under contractual simple interest schedule, pending upcoming payout date.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192C"/>
                </a:solidFill>
              </a:defRPr>
            </a:pPr>
            <a:r>
              <a:t>Transaction Ledger</a:t>
            </a:r>
          </a:p>
          <a:p>
            <a:pPr>
              <a:defRPr sz="1200">
                <a:solidFill>
                  <a:srgbClr val="5C5C5C"/>
                </a:solidFill>
              </a:defRPr>
            </a:pPr>
            <a:r>
              <a:t>Detailed audit history of principal inflows, coupon disbursements, and statutory tax deductions with bank UTR references.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5A880"/>
                </a:solidFill>
              </a:defRPr>
            </a:pPr>
            <a:r>
              <a:t>NIVENTRA CAPITAL ADVISORY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Executive Desk &amp; Operational Deal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192C"/>
                </a:solidFill>
              </a:defRPr>
            </a:pPr>
            <a:r>
              <a:t>CRM Lead Pipeline</a:t>
            </a:r>
          </a:p>
          <a:p>
            <a:pPr>
              <a:defRPr sz="1200">
                <a:solidFill>
                  <a:srgbClr val="5C5C5C"/>
                </a:solidFill>
              </a:defRPr>
            </a:pPr>
            <a:r>
              <a:t>Centralized lead status tracking: NEW, IN_REVIEW, CONTACTED, QUALIFIED, FOLLOW_UP, CONVERTED, and CLOSED. Operators assign leads and append confidential follow-up notes.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Investor KYC Review</a:t>
            </a:r>
          </a:p>
          <a:p>
            <a:pPr>
              <a:defRPr sz="1200">
                <a:solidFill>
                  <a:srgbClr val="5C5C5C"/>
                </a:solidFill>
              </a:defRPr>
            </a:pPr>
            <a:r>
              <a:t>Review submitted identity credentials (PAN, Aadhaar) with masked identifiers. Administrators verify or reject submissions with explicit audit reasoning.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D4ED8"/>
                </a:solidFill>
              </a:defRPr>
            </a:pPr>
            <a:r>
              <a:t>Audit Telemetry</a:t>
            </a:r>
          </a:p>
          <a:p>
            <a:pPr>
              <a:defRPr sz="1200">
                <a:solidFill>
                  <a:srgbClr val="5C5C5C"/>
                </a:solidFill>
              </a:defRPr>
            </a:pPr>
            <a:r>
              <a:t>Comprehensive traceability: Every administrative update, credential submission, and document access event is logged with actor email, role, and IP address.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5A880"/>
                </a:solidFill>
              </a:defRPr>
            </a:pPr>
            <a:r>
              <a:t>NIVENTRA CAPITAL ADVISORY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Technical Architecture &amp; Storage Decoupling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192C"/>
                </a:solidFill>
              </a:defRPr>
            </a:pPr>
            <a:r>
              <a:t>Decoupled DatabaseAdapter</a:t>
            </a:r>
          </a:p>
          <a:p>
            <a:pPr>
              <a:defRPr sz="1200">
                <a:solidFill>
                  <a:srgbClr val="5C5C5C"/>
                </a:solidFill>
              </a:defRPr>
            </a:pPr>
            <a:r>
              <a:t>Built a provider-neutral interface in src/lib/database/adapter.ts. The application code is entirely agnostic of whether it is querying local SQLite or managed cloud PostgreSQL.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D4ED8"/>
                </a:solidFill>
              </a:defRPr>
            </a:pPr>
            <a:r>
              <a:t>Serverless PostgreSQL Ready</a:t>
            </a:r>
          </a:p>
          <a:p>
            <a:pPr>
              <a:defRPr sz="1200">
                <a:solidFill>
                  <a:srgbClr val="5C5C5C"/>
                </a:solidFill>
              </a:defRPr>
            </a:pPr>
            <a:r>
              <a:t>Evaluated Neon and Supabase for production release. Zero-connection exhaustion over HTTP/WebSockets poolers, automated WAL point-in-time recovery, and SOC2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C5A880"/>
                </a:solidFill>
              </a:defRPr>
            </a:pPr>
            <a:r>
              <a:t>Next.js 16 &amp; Turbopack</a:t>
            </a:r>
          </a:p>
          <a:p>
            <a:pPr>
              <a:defRPr sz="1200">
                <a:solidFill>
                  <a:srgbClr val="5C5C5C"/>
                </a:solidFill>
              </a:defRPr>
            </a:pPr>
            <a:r>
              <a:t>Production build compiles in 2.5 seconds with zero diagnostic errors across 41 static and dynamic endpoints. High performance server components with optimized client bundles.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5A880"/>
                </a:solidFill>
              </a:defRPr>
            </a:pPr>
            <a:r>
              <a:t>NIVENTRA CAPITAL ADVISORY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Data Privacy &amp; DPDP Act 2023 Compliance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Explicit Informed Consent</a:t>
            </a:r>
          </a:p>
          <a:p>
            <a:pPr>
              <a:defRPr sz="1200">
                <a:solidFill>
                  <a:srgbClr val="5C5C5C"/>
                </a:solidFill>
              </a:defRPr>
            </a:pPr>
            <a:r>
              <a:t>All intake forms (Consultation, Registration, KYC) feature mandatory, unbundled consent checkboxes explicitly referencing processing purposes under the DPDP Act 2023.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D4ED8"/>
                </a:solidFill>
              </a:defRPr>
            </a:pPr>
            <a:r>
              <a:t>Cryptographic PII Masking</a:t>
            </a:r>
          </a:p>
          <a:p>
            <a:pPr>
              <a:defRPr sz="1200">
                <a:solidFill>
                  <a:srgbClr val="5C5C5C"/>
                </a:solidFill>
              </a:defRPr>
            </a:pPr>
            <a:r>
              <a:t>Personal email addresses in notification logs and identity numbers in KYC tables (PAN: AAAPN*****1F) are permanently masked to prevent personal data leaks.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192C"/>
                </a:solidFill>
              </a:defRPr>
            </a:pPr>
            <a:r>
              <a:t>Statutory Erasure Workflow</a:t>
            </a:r>
          </a:p>
          <a:p>
            <a:pPr>
              <a:defRPr sz="1200">
                <a:solidFill>
                  <a:srgbClr val="5C5C5C"/>
                </a:solidFill>
              </a:defRPr>
            </a:pPr>
            <a:r>
              <a:t>Integrated Account Deletion request flow (/delete-account/) allowing users to exercise their right to erasure, balanced against 8-year financial record retention mandates under PMLA.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5A880"/>
                </a:solidFill>
              </a:defRPr>
            </a:pPr>
            <a:r>
              <a:t>NIVENTRA CAPITAL ADVISORY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Quality Assurance &amp; Automated Verification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A1A1A"/>
                </a:solidFill>
              </a:defRPr>
            </a:pPr>
            <a:r>
              <a:t>Automated Test Suite</a:t>
            </a:r>
          </a:p>
          <a:p>
            <a:pPr>
              <a:defRPr sz="1300" b="1">
                <a:solidFill>
                  <a:srgbClr val="059669"/>
                </a:solidFill>
              </a:defRPr>
            </a:pPr>
            <a:r>
              <a:t>42 / 42 Tests Passed (100%)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Covers canonical routes, math accuracy, TDS caveats, branch search/filtering, cross-investor authorization, and demo safety guards in 376ms.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A1A1A"/>
                </a:solidFill>
              </a:defRPr>
            </a:pPr>
            <a:r>
              <a:t>Static Typechecking</a:t>
            </a:r>
          </a:p>
          <a:p>
            <a:pPr>
              <a:defRPr sz="1300" b="1">
                <a:solidFill>
                  <a:srgbClr val="0B192C"/>
                </a:solidFill>
              </a:defRPr>
            </a:pPr>
            <a:r>
              <a:t>0 TypeScript Errors (tsc --noEmit)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Strict typing across all components, API route handlers, database adapters, and calculation utilities.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A1A1A"/>
                </a:solidFill>
              </a:defRPr>
            </a:pPr>
            <a:r>
              <a:t>ESLint Quality Gate</a:t>
            </a:r>
          </a:p>
          <a:p>
            <a:pPr>
              <a:defRPr sz="1300" b="1">
                <a:solidFill>
                  <a:srgbClr val="1D4ED8"/>
                </a:solidFill>
              </a:defRPr>
            </a:pPr>
            <a:r>
              <a:t>0 Lint Warnings / Errors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Clean code standards adherence, zero unused variables, and proper hook dependency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A1A1A"/>
                </a:solidFill>
              </a:defRPr>
            </a:pPr>
            <a:r>
              <a:t>Next.js Production Build</a:t>
            </a:r>
          </a:p>
          <a:p>
            <a:pPr>
              <a:defRPr sz="1300" b="1">
                <a:solidFill>
                  <a:srgbClr val="C5A880"/>
                </a:solidFill>
              </a:defRPr>
            </a:pPr>
            <a:r>
              <a:t>41 / 41 Routes Compiled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Turbopack production build succeeds in 2.5s with all dynamic API routes and static pages optimized.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5A880"/>
                </a:solidFill>
              </a:defRPr>
            </a:pPr>
            <a:r>
              <a:t>NIVENTRA CAPITAL ADVISORY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Current Limitations &amp; Required Management Decisions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Decision 1: Regional Branch Approvals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Provide verified physical lease agreements and premise identifiers before publishing any of the 22 legacy regional partner locations.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D4ED8"/>
                </a:solidFill>
              </a:defRPr>
            </a:pPr>
            <a:r>
              <a:t>Decision 2: Authorized Staff Lead Mailbox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Designate the approved corporate mailbox (e.g. inquiries@niventracapitaladvisory.com) to receive inbound consultation alerts.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B192C"/>
                </a:solidFill>
              </a:defRPr>
            </a:pPr>
            <a:r>
              <a:t>Decision 3: Managed PostgreSQL Connection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Provision serverless Postgres (Neon / Supabase) and configure DATABASE_URL in Vercel to transition beyond ephemeral /tmp storage.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C5A880"/>
                </a:solidFill>
              </a:defRPr>
            </a:pPr>
            <a:r>
              <a:t>Decision 4: Outbound Email Gateway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Configure transactional email gateway (Resend / AWS SES) and verify domain DNS records (SPF, DKIM, DMARC) for automated lead delivery.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2286000" cy="54864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A880"/>
                </a:solidFill>
              </a:defRPr>
            </a:pPr>
            <a:r>
              <a:t>LIVE DEMONSTRATION WALKTHROUGH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Ready for Management Walkthrough</a:t>
            </a:r>
          </a:p>
          <a:p>
            <a:br/>
            <a:pPr>
              <a:defRPr sz="1400">
                <a:solidFill>
                  <a:srgbClr val="D2DCEB"/>
                </a:solidFill>
              </a:defRPr>
            </a:pPr>
            <a:r>
              <a:t>Reproducible Presentation Accounts (Local Dev Server: http://localhost:3000):</a:t>
            </a:r>
            <a:br/>
            <a:r>
              <a:t>• Client Portal Persona: investor@example.com  (Pass: DemoInvestor2026!#)</a:t>
            </a:r>
            <a:br/>
            <a:r>
              <a:t>• Desk Staff Persona:   staff@niventra.local   (Pass: DemoStaff2026!#)</a:t>
            </a:r>
            <a:br/>
            <a:r>
              <a:t>• Executive Desk Admin: admin@niventra.local   (Pass: DemoAdmin2026!#)</a:t>
            </a:r>
            <a:br/>
            <a:br/>
            <a:r>
              <a:t>Thank you for your review. We welcome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