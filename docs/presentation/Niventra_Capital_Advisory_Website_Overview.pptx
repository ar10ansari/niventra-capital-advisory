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 Title and Website Overview</a:t>
            </a:r>
          </a:p>
          <a:p>
            <a:r>
              <a:t>- Good morning, management. Today we present an authentic executive walkthrough of the newly developed Niventra Capital Advisory web platform.</a:t>
            </a:r>
          </a:p>
          <a:p>
            <a:r>
              <a:t>- The platform is deployed live on Vercel at https://niventra-capital-advisory.vercel.app/ and synchronized with our GitHub repository.</a:t>
            </a:r>
          </a:p>
          <a:p>
            <a:r>
              <a:t>- Every single screen displayed in this deck is captured directly from the live deployed production environment; there are zero synthetic illustrations or fictional dashboards.</a:t>
            </a:r>
          </a:p>
          <a:p>
            <a:r>
              <a:t>- Over the following seven slides, we will examine the verified functionality across client engagement, project funding intake, automated chatbot assistance, financial modelling, office branch network, and accredited investor tracking.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 Schedule a Client Meeting / Appointment Panel</a:t>
            </a:r>
          </a:p>
          <a:p>
            <a:r>
              <a:t>- Slide 2 showcases our client engagement panel located on the /contact/ page.</a:t>
            </a:r>
          </a:p>
          <a:p>
            <a:r>
              <a:t>- The client journey consists of three streamlined steps: locating the consultation panel from any navigation link, selecting their investor or developer profile alongside their capital ticket size, and submitting the request.</a:t>
            </a:r>
          </a:p>
          <a:p>
            <a:r>
              <a:t>- The system immediately verifies inputs, assigns a unique tracking identifier (ENQ-2026-XXXX), and logs compliance with the Indian Digital Personal Data Protection (DPDP) Act 2023.</a:t>
            </a:r>
          </a:p>
          <a:p>
            <a:r>
              <a:t>- Scope boundary: To be completely transparent with management, this feature operates as an institutional intake pipeline rather than an external live calendar sync. Outbound staff alert emails are safely staged awaiting management's authorized recipient list.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 Submit a Real Estate Project for Funding</a:t>
            </a:r>
          </a:p>
          <a:p>
            <a:r>
              <a:t>- Here we inspect the Real Estate Project Funding intake pipeline located at /project-funding/.</a:t>
            </a:r>
          </a:p>
          <a:p>
            <a:r>
              <a:t>- As displayed across the three live capture panels below, the submission process is structured into three formal stages:</a:t>
            </a:r>
          </a:p>
          <a:p>
            <a:r>
              <a:t>  1. Developer Credentials: capturing developer corporate details, authorized signatory roles, and RERA registration credentials.</a:t>
            </a:r>
          </a:p>
          <a:p>
            <a:r>
              <a:t>  2. Project Specifications: capturing location, land area, sanctioned FSI, total project outlay (e.g. ₹48 Cr), and requested debt capital (₹16 Cr).</a:t>
            </a:r>
          </a:p>
          <a:p>
            <a:r>
              <a:t>  3. Institutional Document Verification: a strict 5-item due-diligence checklist covering DPR, sanctioned building plans, 30-year advocate title search report, 3-year audited financials, and RERA approvals.</a:t>
            </a:r>
          </a:p>
          <a:p>
            <a:r>
              <a:t>- Important governance disclosure: Submitting a project is strictly an application for preliminary evaluation, not a funding guarantee. The live platform validates file metadata; cloud binary storage integration will be connected upon cloud infrastructure approval.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 Website Chatbot</a:t>
            </a:r>
          </a:p>
          <a:p>
            <a:r>
              <a:t>- Slide 4 details the website chatbot feature.</a:t>
            </a:r>
          </a:p>
          <a:p>
            <a:r>
              <a:t>- The chatbot operates directly in the live environment as an interactive client advisory assistant.</a:t>
            </a:r>
          </a:p>
          <a:p>
            <a:r>
              <a:t>- During testing on the live Vercel site, we submitted a factual enquiry regarding real estate funding criteria. As seen in the capture, the engine accurately referenced Niventra's debt syndication parameters, mandatory RERA approvals, and asset coverage requirements without hallucinatory claims.</a:t>
            </a:r>
          </a:p>
          <a:p>
            <a:r>
              <a:t>- Scope boundary: The chatbot is strictly a grounded knowledge interface for navigation and qualification. It is programmed not to dispense personalized financial advice or binding investment terms.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5: Investment Return Calculator</a:t>
            </a:r>
          </a:p>
          <a:p>
            <a:r>
              <a:t>- Slide 5 illustrates the live return calculator located at /calculator/.</a:t>
            </a:r>
          </a:p>
          <a:p>
            <a:r>
              <a:t>- The slide demonstrates an actual calculation using institutional parameters: a principal of ₹25 Lakhs at an indicative annual coupon of 14.50% over a 36-month tenure.</a:t>
            </a:r>
          </a:p>
          <a:p>
            <a:r>
              <a:t>- The deployed calculator accurately computes ₹10,87,500 in cumulative interest and generates an interactive quarterly cash-flow schedule with automatic Section 193 TDS calculation (₹32,625 net monthly).</a:t>
            </a:r>
          </a:p>
          <a:p>
            <a:r>
              <a:t>- Governance note: Management must note that all outputs are explicitly marked as illustrative. Default display coupon rates remain subject to final CFO authorization, and returns are never represented as guaranteed.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6: Branches and Office Locations</a:t>
            </a:r>
          </a:p>
          <a:p>
            <a:r>
              <a:t>- Slide 6 presents the company's verified branch directory on the live /contact/ page.</a:t>
            </a:r>
          </a:p>
          <a:p>
            <a:r>
              <a:t>- We have verified that all 25 locations are live and accessible across six state tabs: Madhya Pradesh with 12 locations, Rajasthan with 7, Uttar Pradesh with 3, Delhi NCR with 2, and Haryana with 1.</a:t>
            </a:r>
          </a:p>
          <a:p>
            <a:r>
              <a:t>- Crucially, the directory maintains proper corporate governance: Gwalior is distinctly badged as the official MCA-registered Head Office under CIN L17111MP1984PLC002492, while New Delhi is clearly identified as our operational Northern Advisory Desk.</a:t>
            </a:r>
          </a:p>
          <a:p>
            <a:r>
              <a:t>- Visitors can filter by state pill or perform real-time instant text searches across cities, localities, and PIN codes.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7: Investor Portal and Investment Tracking</a:t>
            </a:r>
          </a:p>
          <a:p>
            <a:r>
              <a:t>- Slide 7 covers the Accredited Investor Portal and investment tracking interface.</a:t>
            </a:r>
          </a:p>
          <a:p>
            <a:r>
              <a:t>- As shown in the top capture, unauthenticated visitors accessing private routes are securely redirected to the live /login gateway with 256-bit TLS encryption and statutory disclosures.</a:t>
            </a:r>
          </a:p>
          <a:p>
            <a:r>
              <a:t>- The lower capture demonstrates the authenticated investment tracking interface: displaying active portfolio capital (e.g. ₹50,00,000), cumulative coupon yield, Debenture Series allocations, and cash-flow calendars.</a:t>
            </a:r>
          </a:p>
          <a:p>
            <a:r>
              <a:t>- Explicit governance distinction: The login gateway is live on Vercel, while the tracking dashboard operates in demonstration mode. No live production database or private investor PII is exposed on the public web.</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8: Summary of Website Features</a:t>
            </a:r>
          </a:p>
          <a:p>
            <a:r>
              <a:t>- In summary, Slide 8 consolidates the verification status of all seven core functional areas covered today.</a:t>
            </a:r>
          </a:p>
          <a:p>
            <a:r>
              <a:t>- 1. Overview &amp; Navigation: Live on Vercel with responsive institutional design.</a:t>
            </a:r>
          </a:p>
          <a:p>
            <a:r>
              <a:t>- 2. Client Consultation Panel: Live asynchronous enquiry intake with serialized reference tracking.</a:t>
            </a:r>
          </a:p>
          <a:p>
            <a:r>
              <a:t>- 3. Real Estate Project Funding: Live 3-stage intake with comprehensive developer credential and document checklist.</a:t>
            </a:r>
          </a:p>
          <a:p>
            <a:r>
              <a:t>- 4. Advisory Chatbot: Live knowledge-grounded assistant with zero unauthorized advice claims.</a:t>
            </a:r>
          </a:p>
          <a:p>
            <a:r>
              <a:t>- 5. Investment Return Calculator: Live illustrative coupon calculator with Section 193 tax deduction.</a:t>
            </a:r>
          </a:p>
          <a:p>
            <a:r>
              <a:t>- 6. Branch Directory: Live with all 25 locations, state filtering, and Gwalior Head Office badging.</a:t>
            </a:r>
          </a:p>
          <a:p>
            <a:r>
              <a:t>- 7. Investor Portal: Live secure login gateway with demonstration tracking dashboard.</a:t>
            </a:r>
          </a:p>
          <a:p>
            <a:r>
              <a:t>- Thank you for your leadership and review. We invite your questions and guidance on next steps.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5.png"/><Relationship Id="rId5" Type="http://schemas.openxmlformats.org/officeDocument/2006/relationships/image" Target="../media/image7.png"/><Relationship Id="rId6" Type="http://schemas.openxmlformats.org/officeDocument/2006/relationships/image" Target="../media/image8.png"/><Relationship Id="rId7" Type="http://schemas.openxmlformats.org/officeDocument/2006/relationships/image" Target="../media/image9.png"/><Relationship Id="rId8" Type="http://schemas.openxmlformats.org/officeDocument/2006/relationships/image" Target="../media/image11.png"/><Relationship Id="rId9"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192C"/>
        </a:solidFill>
        <a:effectLst/>
      </p:bgPr>
    </p:bg>
    <p:spTree>
      <p:nvGrpSpPr>
        <p:cNvPr id="1" name=""/>
        <p:cNvGrpSpPr/>
        <p:nvPr/>
      </p:nvGrpSpPr>
      <p:grpSpPr/>
      <p:pic>
        <p:nvPicPr>
          <p:cNvPr id="2" name="Picture 1" descr="logo.png"/>
          <p:cNvPicPr>
            <a:picLocks noChangeAspect="1"/>
          </p:cNvPicPr>
          <p:nvPr/>
        </p:nvPicPr>
        <p:blipFill>
          <a:blip r:embed="rId2"/>
          <a:stretch>
            <a:fillRect/>
          </a:stretch>
        </p:blipFill>
        <p:spPr>
          <a:xfrm>
            <a:off x="731520" y="731520"/>
            <a:ext cx="2011680" cy="1722176"/>
          </a:xfrm>
          <a:prstGeom prst="rect">
            <a:avLst/>
          </a:prstGeom>
        </p:spPr>
      </p:pic>
      <p:sp>
        <p:nvSpPr>
          <p:cNvPr id="3" name="Rounded Rectangle 2"/>
          <p:cNvSpPr/>
          <p:nvPr/>
        </p:nvSpPr>
        <p:spPr>
          <a:xfrm>
            <a:off x="731520" y="1691640"/>
            <a:ext cx="3291840" cy="329184"/>
          </a:xfrm>
          <a:prstGeom prst="roundRect">
            <a:avLst/>
          </a:prstGeom>
          <a:solidFill>
            <a:srgbClr val="162A46"/>
          </a:solidFill>
          <a:ln w="12700">
            <a:solidFill>
              <a:srgbClr val="9A7B2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9A7B2C"/>
                </a:solidFill>
              </a:defRPr>
            </a:pPr>
            <a:r>
              <a:t>EXECUTIVE PLATFORM WALKTHROUGH</a:t>
            </a:r>
          </a:p>
        </p:txBody>
      </p:sp>
      <p:sp>
        <p:nvSpPr>
          <p:cNvPr id="4" name="TextBox 3"/>
          <p:cNvSpPr txBox="1"/>
          <p:nvPr/>
        </p:nvSpPr>
        <p:spPr>
          <a:xfrm>
            <a:off x="731520" y="2148840"/>
            <a:ext cx="5303520" cy="2194560"/>
          </a:xfrm>
          <a:prstGeom prst="rect">
            <a:avLst/>
          </a:prstGeom>
          <a:noFill/>
        </p:spPr>
        <p:txBody>
          <a:bodyPr wrap="square" tIns="0" bIns="0" lIns="0" rIns="0">
            <a:spAutoFit/>
          </a:bodyPr>
          <a:lstStyle/>
          <a:p>
            <a:pPr>
              <a:defRPr sz="3200" b="1">
                <a:solidFill>
                  <a:srgbClr val="FFFFFF"/>
                </a:solidFill>
              </a:defRPr>
            </a:pPr>
            <a:r>
              <a:t>Niventra Capital Advisory</a:t>
            </a:r>
          </a:p>
          <a:p>
            <a:pPr>
              <a:spcBef>
                <a:spcPts val="800"/>
              </a:spcBef>
              <a:defRPr sz="1700">
                <a:solidFill>
                  <a:srgbClr val="9A7B2C"/>
                </a:solidFill>
              </a:defRPr>
            </a:pPr>
            <a:r>
              <a:t>Website Overview &amp; Feature Demonstration</a:t>
            </a:r>
          </a:p>
          <a:p>
            <a:pPr>
              <a:spcBef>
                <a:spcPts val="1000"/>
              </a:spcBef>
              <a:defRPr sz="1050">
                <a:solidFill>
                  <a:srgbClr val="C8D2E1"/>
                </a:solidFill>
              </a:defRPr>
            </a:pPr>
            <a:r>
              <a:t>An executive presentation detailing the newly deployed digital platform across client onboarding, meeting scheduling, real estate project funding, return modelling, branch directory, and investor tracking.</a:t>
            </a:r>
          </a:p>
        </p:txBody>
      </p:sp>
      <p:sp>
        <p:nvSpPr>
          <p:cNvPr id="5" name="Rounded Rectangle 4"/>
          <p:cNvSpPr/>
          <p:nvPr/>
        </p:nvSpPr>
        <p:spPr>
          <a:xfrm>
            <a:off x="731520" y="4572000"/>
            <a:ext cx="5303520" cy="1645920"/>
          </a:xfrm>
          <a:prstGeom prst="roundRect">
            <a:avLst/>
          </a:prstGeom>
          <a:solidFill>
            <a:srgbClr val="102036"/>
          </a:solidFill>
          <a:ln w="12700">
            <a:solidFill>
              <a:srgbClr val="233C5F"/>
            </a:solidFill>
          </a:ln>
        </p:spPr>
        <p:style>
          <a:lnRef idx="1">
            <a:schemeClr val="accent1"/>
          </a:lnRef>
          <a:fillRef idx="3">
            <a:schemeClr val="accent1"/>
          </a:fillRef>
          <a:effectRef idx="2">
            <a:schemeClr val="accent1"/>
          </a:effectRef>
          <a:fontRef idx="minor">
            <a:schemeClr val="lt1"/>
          </a:fontRef>
        </p:style>
        <p:txBody>
          <a:bodyPr rtlCol="0" anchor="ctr" lIns="182880" rIns="182880" tIns="182880" bIns="182880" wrap="square"/>
          <a:lstStyle/>
          <a:p>
            <a:pPr algn="ctr">
              <a:spcAft>
                <a:spcPts val="400"/>
              </a:spcAft>
              <a:defRPr sz="850" b="1">
                <a:solidFill>
                  <a:srgbClr val="9A7B2C"/>
                </a:solidFill>
              </a:defRPr>
            </a:pPr>
            <a:r>
              <a:t>DEPLOYED PLATFORM VERIFICATION DETAILS</a:t>
            </a:r>
          </a:p>
          <a:p>
            <a:pPr>
              <a:defRPr sz="950">
                <a:solidFill>
                  <a:srgbClr val="E6EBF5"/>
                </a:solidFill>
              </a:defRPr>
            </a:pPr>
            <a:r>
              <a:t>• Live Target: https://niventra-capital-advisory.vercel.app/</a:t>
            </a:r>
          </a:p>
          <a:p>
            <a:pPr>
              <a:defRPr sz="950">
                <a:solidFill>
                  <a:srgbClr val="E6EBF5"/>
                </a:solidFill>
              </a:defRPr>
            </a:pPr>
            <a:r>
              <a:t>• Repository: https://github.com/Ar10Ansari/niventra-capital-advisory</a:t>
            </a:r>
          </a:p>
          <a:p>
            <a:pPr>
              <a:defRPr sz="950">
                <a:solidFill>
                  <a:srgbClr val="059669"/>
                </a:solidFill>
              </a:defRPr>
            </a:pPr>
            <a:r>
              <a:t>• Evidence Base: 100% genuine live captures (zero synthetic mockups)</a:t>
            </a:r>
          </a:p>
        </p:txBody>
      </p:sp>
      <p:sp>
        <p:nvSpPr>
          <p:cNvPr id="6" name="Rounded Rectangle 5"/>
          <p:cNvSpPr/>
          <p:nvPr/>
        </p:nvSpPr>
        <p:spPr>
          <a:xfrm>
            <a:off x="6309360" y="1097280"/>
            <a:ext cx="5212080" cy="5120640"/>
          </a:xfrm>
          <a:prstGeom prst="roundRect">
            <a:avLst/>
          </a:prstGeom>
          <a:solidFill>
            <a:srgbClr val="102036"/>
          </a:solidFill>
          <a:ln w="12700">
            <a:solidFill>
              <a:srgbClr val="233C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01_home_overview.png"/>
          <p:cNvPicPr>
            <a:picLocks noChangeAspect="1"/>
          </p:cNvPicPr>
          <p:nvPr/>
        </p:nvPicPr>
        <p:blipFill>
          <a:blip r:embed="rId3"/>
          <a:stretch>
            <a:fillRect/>
          </a:stretch>
        </p:blipFill>
        <p:spPr>
          <a:xfrm>
            <a:off x="6382512" y="1170432"/>
            <a:ext cx="5065776" cy="3517900"/>
          </a:xfrm>
          <a:prstGeom prst="rect">
            <a:avLst/>
          </a:prstGeom>
        </p:spPr>
      </p:pic>
      <p:sp>
        <p:nvSpPr>
          <p:cNvPr id="8" name="TextBox 7"/>
          <p:cNvSpPr txBox="1"/>
          <p:nvPr/>
        </p:nvSpPr>
        <p:spPr>
          <a:xfrm>
            <a:off x="6382512" y="5897880"/>
            <a:ext cx="5065776" cy="228600"/>
          </a:xfrm>
          <a:prstGeom prst="rect">
            <a:avLst/>
          </a:prstGeom>
          <a:noFill/>
        </p:spPr>
        <p:txBody>
          <a:bodyPr wrap="none" tIns="0" bIns="0" lIns="0" rIns="0">
            <a:spAutoFit/>
          </a:bodyPr>
          <a:lstStyle/>
          <a:p>
            <a:pPr algn="ctr">
              <a:defRPr sz="850">
                <a:solidFill>
                  <a:srgbClr val="A0AFC3"/>
                </a:solidFill>
              </a:defRPr>
            </a:pPr>
            <a:r>
              <a:t>Live Homepage: Institutional Navigation, Headline Positioning &amp; Key Metrics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TextBox 1"/>
          <p:cNvSpPr txBox="1"/>
          <p:nvPr/>
        </p:nvSpPr>
        <p:spPr>
          <a:xfrm>
            <a:off x="731520" y="365760"/>
            <a:ext cx="8229600" cy="228600"/>
          </a:xfrm>
          <a:prstGeom prst="rect">
            <a:avLst/>
          </a:prstGeom>
          <a:noFill/>
        </p:spPr>
        <p:txBody>
          <a:bodyPr wrap="none" tIns="0" bIns="0" lIns="0" rIns="0">
            <a:spAutoFit/>
          </a:bodyPr>
          <a:lstStyle/>
          <a:p>
            <a:pPr>
              <a:defRPr sz="950" b="1">
                <a:solidFill>
                  <a:srgbClr val="9A7B2C"/>
                </a:solidFill>
              </a:defRPr>
            </a:pPr>
            <a:r>
              <a:t>CLIENT ENGAGEMENT WORKFLOW</a:t>
            </a:r>
          </a:p>
        </p:txBody>
      </p:sp>
      <p:sp>
        <p:nvSpPr>
          <p:cNvPr id="3" name="TextBox 2"/>
          <p:cNvSpPr txBox="1"/>
          <p:nvPr/>
        </p:nvSpPr>
        <p:spPr>
          <a:xfrm>
            <a:off x="731520" y="594360"/>
            <a:ext cx="8229600" cy="594360"/>
          </a:xfrm>
          <a:prstGeom prst="rect">
            <a:avLst/>
          </a:prstGeom>
          <a:noFill/>
        </p:spPr>
        <p:txBody>
          <a:bodyPr wrap="square" tIns="0" bIns="0" lIns="0" rIns="0">
            <a:spAutoFit/>
          </a:bodyPr>
          <a:lstStyle/>
          <a:p>
            <a:pPr>
              <a:defRPr sz="2100" b="1">
                <a:solidFill>
                  <a:srgbClr val="1A1A1A"/>
                </a:solidFill>
              </a:defRPr>
            </a:pPr>
            <a:r>
              <a:t>Schedule a Client Meeting / Appointment Panel</a:t>
            </a:r>
          </a:p>
        </p:txBody>
      </p:sp>
      <p:sp>
        <p:nvSpPr>
          <p:cNvPr id="4" name="Rounded Rectangle 3"/>
          <p:cNvSpPr/>
          <p:nvPr/>
        </p:nvSpPr>
        <p:spPr>
          <a:xfrm>
            <a:off x="9052560" y="502920"/>
            <a:ext cx="2377440" cy="329184"/>
          </a:xfrm>
          <a:prstGeom prst="roundRect">
            <a:avLst/>
          </a:prstGeom>
          <a:solidFill>
            <a:srgbClr val="ECFDF5"/>
          </a:solidFill>
          <a:ln w="1270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059669"/>
                </a:solidFill>
              </a:defRPr>
            </a:pPr>
            <a:r>
              <a:t>LIVE CRM INTAKE</a:t>
            </a:r>
          </a:p>
        </p:txBody>
      </p:sp>
      <p:sp>
        <p:nvSpPr>
          <p:cNvPr id="5" name="TextBox 4"/>
          <p:cNvSpPr txBox="1"/>
          <p:nvPr/>
        </p:nvSpPr>
        <p:spPr>
          <a:xfrm>
            <a:off x="10789920" y="6492240"/>
            <a:ext cx="731520" cy="274320"/>
          </a:xfrm>
          <a:prstGeom prst="rect">
            <a:avLst/>
          </a:prstGeom>
          <a:noFill/>
        </p:spPr>
        <p:txBody>
          <a:bodyPr wrap="none" tIns="0" bIns="0" lIns="0" rIns="0">
            <a:spAutoFit/>
          </a:bodyPr>
          <a:lstStyle/>
          <a:p>
            <a:pPr algn="r">
              <a:defRPr sz="900">
                <a:solidFill>
                  <a:srgbClr val="8A8A8A"/>
                </a:solidFill>
              </a:defRPr>
            </a:pPr>
            <a:r>
              <a:t>02 / 08</a:t>
            </a:r>
          </a:p>
        </p:txBody>
      </p:sp>
      <p:sp>
        <p:nvSpPr>
          <p:cNvPr id="6" name="Rounded Rectangle 5"/>
          <p:cNvSpPr/>
          <p:nvPr/>
        </p:nvSpPr>
        <p:spPr>
          <a:xfrm>
            <a:off x="731520" y="1371600"/>
            <a:ext cx="4389120" cy="48920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bIns="228600"/>
          <a:lstStyle/>
          <a:p>
            <a:pPr algn="ctr">
              <a:spcAft>
                <a:spcPts val="600"/>
              </a:spcAft>
              <a:defRPr sz="950" b="1">
                <a:solidFill>
                  <a:srgbClr val="9A7B2C"/>
                </a:solidFill>
              </a:defRPr>
            </a:pPr>
            <a:r>
              <a:t>CLIENT MEETING JOURNEY (3 STEPS)</a:t>
            </a:r>
          </a:p>
          <a:p>
            <a:pPr>
              <a:spcBef>
                <a:spcPts val="400"/>
              </a:spcBef>
              <a:defRPr sz="950" b="1">
                <a:solidFill>
                  <a:srgbClr val="1A1A1A"/>
                </a:solidFill>
              </a:defRPr>
            </a:pPr>
            <a:r>
              <a:t>1. Locate Feature:</a:t>
            </a:r>
          </a:p>
          <a:p>
            <a:pPr>
              <a:spcAft>
                <a:spcPts val="400"/>
              </a:spcAft>
              <a:defRPr sz="900">
                <a:solidFill>
                  <a:srgbClr val="5C5C5C"/>
                </a:solidFill>
              </a:defRPr>
            </a:pPr>
            <a:r>
              <a:t>Institutional clients access the consultation panel via persistent header CTA ('Book Consultation') or direct route /contact/.</a:t>
            </a:r>
          </a:p>
          <a:p>
            <a:pPr>
              <a:spcBef>
                <a:spcPts val="400"/>
              </a:spcBef>
              <a:defRPr sz="950" b="1">
                <a:solidFill>
                  <a:srgbClr val="1A1A1A"/>
                </a:solidFill>
              </a:defRPr>
            </a:pPr>
            <a:r>
              <a:t>2. Enter Appointment Details:</a:t>
            </a:r>
          </a:p>
          <a:p>
            <a:pPr>
              <a:spcAft>
                <a:spcPts val="400"/>
              </a:spcAft>
              <a:defRPr sz="900">
                <a:solidFill>
                  <a:srgbClr val="5C5C5C"/>
                </a:solidFill>
              </a:defRPr>
            </a:pPr>
            <a:r>
              <a:t>Captures Full Legal Name, Corporate Email, Direct Phone, Category ('Capital Provider' / 'Developer'), Capital Range (₹25L–₹1Cr, ₹1Cr–₹5Cr, ₹5Cr+), and Advisory Message.</a:t>
            </a:r>
          </a:p>
          <a:p>
            <a:pPr>
              <a:spcBef>
                <a:spcPts val="400"/>
              </a:spcBef>
              <a:defRPr sz="950" b="1">
                <a:solidFill>
                  <a:srgbClr val="1A1A1A"/>
                </a:solidFill>
              </a:defRPr>
            </a:pPr>
            <a:r>
              <a:t>3. Submit &amp; Confirm Request:</a:t>
            </a:r>
          </a:p>
          <a:p>
            <a:pPr>
              <a:spcAft>
                <a:spcPts val="400"/>
              </a:spcAft>
              <a:defRPr sz="900">
                <a:solidFill>
                  <a:srgbClr val="5C5C5C"/>
                </a:solidFill>
              </a:defRPr>
            </a:pPr>
            <a:r>
              <a:t>Generates serialized reference tracking ID (ENQ-2026-XXXX), records DPDP Act 2023 compliance consent, and routes lead to advisory queue.</a:t>
            </a:r>
          </a:p>
          <a:p>
            <a:pPr>
              <a:spcBef>
                <a:spcPts val="600"/>
              </a:spcBef>
              <a:spcAft>
                <a:spcPts val="200"/>
              </a:spcAft>
              <a:defRPr sz="850" b="1">
                <a:solidFill>
                  <a:srgbClr val="D97706"/>
                </a:solidFill>
              </a:defRPr>
            </a:pPr>
            <a:r>
              <a:t>IMPLEMENTATION &amp; SCOPE BOUNDARY</a:t>
            </a:r>
          </a:p>
          <a:p>
            <a:pPr>
              <a:defRPr sz="850">
                <a:solidFill>
                  <a:srgbClr val="5C5C5C"/>
                </a:solidFill>
              </a:defRPr>
            </a:pPr>
            <a:r>
              <a:t>• Asynchronous CRM Intake: Operates as a structured intake form rather than a live external calendar sync (e.g. Calendly/Google Calendar).</a:t>
            </a:r>
            <a:br/>
            <a:r>
              <a:t>• Staged Notification Relay: Form submissions record structured JSON entries; staff email dispatch awaits authorized corporate recipient configuration.</a:t>
            </a:r>
          </a:p>
        </p:txBody>
      </p:sp>
      <p:sp>
        <p:nvSpPr>
          <p:cNvPr id="7" name="Rounded Rectangle 6"/>
          <p:cNvSpPr/>
          <p:nvPr/>
        </p:nvSpPr>
        <p:spPr>
          <a:xfrm>
            <a:off x="5349240" y="1371600"/>
            <a:ext cx="6126480" cy="48920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02_schedule_meeting_panel.png"/>
          <p:cNvPicPr>
            <a:picLocks noChangeAspect="1"/>
          </p:cNvPicPr>
          <p:nvPr/>
        </p:nvPicPr>
        <p:blipFill>
          <a:blip r:embed="rId2"/>
          <a:stretch>
            <a:fillRect/>
          </a:stretch>
        </p:blipFill>
        <p:spPr>
          <a:xfrm>
            <a:off x="5413248" y="1435608"/>
            <a:ext cx="5998464" cy="4165600"/>
          </a:xfrm>
          <a:prstGeom prst="rect">
            <a:avLst/>
          </a:prstGeom>
        </p:spPr>
      </p:pic>
      <p:sp>
        <p:nvSpPr>
          <p:cNvPr id="9" name="TextBox 8"/>
          <p:cNvSpPr txBox="1"/>
          <p:nvPr/>
        </p:nvSpPr>
        <p:spPr>
          <a:xfrm>
            <a:off x="5413248" y="5943600"/>
            <a:ext cx="5998464" cy="228600"/>
          </a:xfrm>
          <a:prstGeom prst="rect">
            <a:avLst/>
          </a:prstGeom>
          <a:noFill/>
        </p:spPr>
        <p:txBody>
          <a:bodyPr wrap="none" tIns="0" bIns="0" lIns="0" rIns="0">
            <a:spAutoFit/>
          </a:bodyPr>
          <a:lstStyle/>
          <a:p>
            <a:pPr algn="ctr">
              <a:defRPr sz="850">
                <a:solidFill>
                  <a:srgbClr val="8A8A8A"/>
                </a:solidFill>
              </a:defRPr>
            </a:pPr>
            <a:r>
              <a:t>Live /contact/ Form: Pre-filled Demonstration Request with Investor Category &amp; Capital Range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TextBox 1"/>
          <p:cNvSpPr txBox="1"/>
          <p:nvPr/>
        </p:nvSpPr>
        <p:spPr>
          <a:xfrm>
            <a:off x="731520" y="365760"/>
            <a:ext cx="8229600" cy="228600"/>
          </a:xfrm>
          <a:prstGeom prst="rect">
            <a:avLst/>
          </a:prstGeom>
          <a:noFill/>
        </p:spPr>
        <p:txBody>
          <a:bodyPr wrap="none" tIns="0" bIns="0" lIns="0" rIns="0">
            <a:spAutoFit/>
          </a:bodyPr>
          <a:lstStyle/>
          <a:p>
            <a:pPr>
              <a:defRPr sz="950" b="1">
                <a:solidFill>
                  <a:srgbClr val="9A7B2C"/>
                </a:solidFill>
              </a:defRPr>
            </a:pPr>
            <a:r>
              <a:t>DEVELOPER CAPITAL INTAKE</a:t>
            </a:r>
          </a:p>
        </p:txBody>
      </p:sp>
      <p:sp>
        <p:nvSpPr>
          <p:cNvPr id="3" name="TextBox 2"/>
          <p:cNvSpPr txBox="1"/>
          <p:nvPr/>
        </p:nvSpPr>
        <p:spPr>
          <a:xfrm>
            <a:off x="731520" y="594360"/>
            <a:ext cx="8229600" cy="594360"/>
          </a:xfrm>
          <a:prstGeom prst="rect">
            <a:avLst/>
          </a:prstGeom>
          <a:noFill/>
        </p:spPr>
        <p:txBody>
          <a:bodyPr wrap="square" tIns="0" bIns="0" lIns="0" rIns="0">
            <a:spAutoFit/>
          </a:bodyPr>
          <a:lstStyle/>
          <a:p>
            <a:pPr>
              <a:defRPr sz="2100" b="1">
                <a:solidFill>
                  <a:srgbClr val="1A1A1A"/>
                </a:solidFill>
              </a:defRPr>
            </a:pPr>
            <a:r>
              <a:t>Submit a Real Estate Project for Funding</a:t>
            </a:r>
          </a:p>
        </p:txBody>
      </p:sp>
      <p:sp>
        <p:nvSpPr>
          <p:cNvPr id="4" name="Rounded Rectangle 3"/>
          <p:cNvSpPr/>
          <p:nvPr/>
        </p:nvSpPr>
        <p:spPr>
          <a:xfrm>
            <a:off x="9052560" y="502920"/>
            <a:ext cx="2377440" cy="329184"/>
          </a:xfrm>
          <a:prstGeom prst="roundRect">
            <a:avLst/>
          </a:prstGeom>
          <a:solidFill>
            <a:srgbClr val="ECFDF5"/>
          </a:solidFill>
          <a:ln w="1270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059669"/>
                </a:solidFill>
              </a:defRPr>
            </a:pPr>
            <a:r>
              <a:t>LIVE 3-STAGE INTAKE</a:t>
            </a:r>
          </a:p>
        </p:txBody>
      </p:sp>
      <p:sp>
        <p:nvSpPr>
          <p:cNvPr id="5" name="TextBox 4"/>
          <p:cNvSpPr txBox="1"/>
          <p:nvPr/>
        </p:nvSpPr>
        <p:spPr>
          <a:xfrm>
            <a:off x="10789920" y="6492240"/>
            <a:ext cx="731520" cy="274320"/>
          </a:xfrm>
          <a:prstGeom prst="rect">
            <a:avLst/>
          </a:prstGeom>
          <a:noFill/>
        </p:spPr>
        <p:txBody>
          <a:bodyPr wrap="none" tIns="0" bIns="0" lIns="0" rIns="0">
            <a:spAutoFit/>
          </a:bodyPr>
          <a:lstStyle/>
          <a:p>
            <a:pPr algn="r">
              <a:defRPr sz="900">
                <a:solidFill>
                  <a:srgbClr val="8A8A8A"/>
                </a:solidFill>
              </a:defRPr>
            </a:pPr>
            <a:r>
              <a:t>03 / 08</a:t>
            </a:r>
          </a:p>
        </p:txBody>
      </p:sp>
      <p:sp>
        <p:nvSpPr>
          <p:cNvPr id="6" name="Rounded Rectangle 5"/>
          <p:cNvSpPr/>
          <p:nvPr/>
        </p:nvSpPr>
        <p:spPr>
          <a:xfrm>
            <a:off x="731520" y="1280160"/>
            <a:ext cx="10728655" cy="1417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64592" bIns="164592"/>
          <a:lstStyle/>
          <a:p>
            <a:pPr algn="ctr">
              <a:spcAft>
                <a:spcPts val="200"/>
              </a:spcAft>
              <a:defRPr sz="950" b="1">
                <a:solidFill>
                  <a:srgbClr val="9A7B2C"/>
                </a:solidFill>
              </a:defRPr>
            </a:pPr>
            <a:r>
              <a:t>DEVELOPER PROJECT EVALUATION PIPELINE (/project-funding/)</a:t>
            </a:r>
          </a:p>
          <a:p>
            <a:pPr>
              <a:spcAft>
                <a:spcPts val="300"/>
              </a:spcAft>
              <a:defRPr sz="950">
                <a:solidFill>
                  <a:srgbClr val="1A1A1A"/>
                </a:solidFill>
              </a:defRPr>
            </a:pPr>
            <a:r>
              <a:t>A multi-stage institutional intake portal enabling residential and commercial developers to submit real estate projects for preliminary debt financing and mezzanine capital evaluation. Verified against live Vercel deployment with comprehensive validation across developer entity credentials, project specifications, and regulatory clearance checklists.</a:t>
            </a:r>
          </a:p>
          <a:p>
            <a:pPr>
              <a:defRPr sz="850" b="1">
                <a:solidFill>
                  <a:srgbClr val="D97706"/>
                </a:solidFill>
              </a:defRPr>
            </a:pPr>
            <a:r>
              <a:t>• Regulatory Notice: Preliminary evaluation only — does not constitute a loan sanction or funding guarantee. Document verification records file metadata in Phase 1; binary cloud storage is deferred to Phase 2.</a:t>
            </a:r>
          </a:p>
        </p:txBody>
      </p:sp>
      <p:sp>
        <p:nvSpPr>
          <p:cNvPr id="7" name="Rounded Rectangle 6"/>
          <p:cNvSpPr/>
          <p:nvPr/>
        </p:nvSpPr>
        <p:spPr>
          <a:xfrm>
            <a:off x="731520" y="2834640"/>
            <a:ext cx="3429000" cy="34747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109728" bIns="109728"/>
          <a:lstStyle/>
          <a:p>
            <a:pPr algn="ctr">
              <a:defRPr sz="900" b="1">
                <a:solidFill>
                  <a:srgbClr val="9A7B2C"/>
                </a:solidFill>
              </a:defRPr>
            </a:pPr>
            <a:r>
              <a:t>Step 1: Developer Credentials</a:t>
            </a:r>
          </a:p>
          <a:p>
            <a:pPr>
              <a:defRPr sz="800">
                <a:solidFill>
                  <a:srgbClr val="5C5C5C"/>
                </a:solidFill>
              </a:defRPr>
            </a:pPr>
            <a:r>
              <a:t>Legal Entity, Signatory, RERA ID, Past Delivery Track Record</a:t>
            </a:r>
          </a:p>
        </p:txBody>
      </p:sp>
      <p:pic>
        <p:nvPicPr>
          <p:cNvPr id="8" name="Picture 7" descr="03a_project_funding_step1.png"/>
          <p:cNvPicPr>
            <a:picLocks noChangeAspect="1"/>
          </p:cNvPicPr>
          <p:nvPr/>
        </p:nvPicPr>
        <p:blipFill>
          <a:blip r:embed="rId2"/>
          <a:stretch>
            <a:fillRect/>
          </a:stretch>
        </p:blipFill>
        <p:spPr>
          <a:xfrm>
            <a:off x="841248" y="3566160"/>
            <a:ext cx="3209544" cy="2228850"/>
          </a:xfrm>
          <a:prstGeom prst="rect">
            <a:avLst/>
          </a:prstGeom>
        </p:spPr>
      </p:pic>
      <p:sp>
        <p:nvSpPr>
          <p:cNvPr id="9" name="Rounded Rectangle 8"/>
          <p:cNvSpPr/>
          <p:nvPr/>
        </p:nvSpPr>
        <p:spPr>
          <a:xfrm>
            <a:off x="4379976" y="2834640"/>
            <a:ext cx="3429000" cy="34747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109728" bIns="109728"/>
          <a:lstStyle/>
          <a:p>
            <a:pPr algn="ctr">
              <a:defRPr sz="900" b="1">
                <a:solidFill>
                  <a:srgbClr val="9A7B2C"/>
                </a:solidFill>
              </a:defRPr>
            </a:pPr>
            <a:r>
              <a:t>Step 2: Project Specifications</a:t>
            </a:r>
          </a:p>
          <a:p>
            <a:pPr>
              <a:defRPr sz="800">
                <a:solidFill>
                  <a:srgbClr val="5C5C5C"/>
                </a:solidFill>
              </a:defRPr>
            </a:pPr>
            <a:r>
              <a:t>Project Location, Sanctioned FSI, Total Outlay (₹48 Cr), Funding (₹16 Cr)</a:t>
            </a:r>
          </a:p>
        </p:txBody>
      </p:sp>
      <p:pic>
        <p:nvPicPr>
          <p:cNvPr id="10" name="Picture 9" descr="03b_project_funding_step2.png"/>
          <p:cNvPicPr>
            <a:picLocks noChangeAspect="1"/>
          </p:cNvPicPr>
          <p:nvPr/>
        </p:nvPicPr>
        <p:blipFill>
          <a:blip r:embed="rId3"/>
          <a:stretch>
            <a:fillRect/>
          </a:stretch>
        </p:blipFill>
        <p:spPr>
          <a:xfrm>
            <a:off x="4489704" y="3566160"/>
            <a:ext cx="3209544" cy="2228850"/>
          </a:xfrm>
          <a:prstGeom prst="rect">
            <a:avLst/>
          </a:prstGeom>
        </p:spPr>
      </p:pic>
      <p:sp>
        <p:nvSpPr>
          <p:cNvPr id="11" name="Rounded Rectangle 10"/>
          <p:cNvSpPr/>
          <p:nvPr/>
        </p:nvSpPr>
        <p:spPr>
          <a:xfrm>
            <a:off x="8028432" y="2834640"/>
            <a:ext cx="3429000" cy="34747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109728" bIns="109728"/>
          <a:lstStyle/>
          <a:p>
            <a:pPr algn="ctr">
              <a:defRPr sz="900" b="1">
                <a:solidFill>
                  <a:srgbClr val="9A7B2C"/>
                </a:solidFill>
              </a:defRPr>
            </a:pPr>
            <a:r>
              <a:t>Step 3: Document Verification</a:t>
            </a:r>
          </a:p>
          <a:p>
            <a:pPr>
              <a:defRPr sz="800">
                <a:solidFill>
                  <a:srgbClr val="5C5C5C"/>
                </a:solidFill>
              </a:defRPr>
            </a:pPr>
            <a:r>
              <a:t>5-Point Checklist: DPR, Sanctioned Plans, Title Search, Audit, RERA</a:t>
            </a:r>
          </a:p>
        </p:txBody>
      </p:sp>
      <p:pic>
        <p:nvPicPr>
          <p:cNvPr id="12" name="Picture 11" descr="03c_project_funding_step3.png"/>
          <p:cNvPicPr>
            <a:picLocks noChangeAspect="1"/>
          </p:cNvPicPr>
          <p:nvPr/>
        </p:nvPicPr>
        <p:blipFill>
          <a:blip r:embed="rId4"/>
          <a:stretch>
            <a:fillRect/>
          </a:stretch>
        </p:blipFill>
        <p:spPr>
          <a:xfrm>
            <a:off x="8138160" y="3566160"/>
            <a:ext cx="3209544" cy="222885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TextBox 1"/>
          <p:cNvSpPr txBox="1"/>
          <p:nvPr/>
        </p:nvSpPr>
        <p:spPr>
          <a:xfrm>
            <a:off x="731520" y="365760"/>
            <a:ext cx="8229600" cy="228600"/>
          </a:xfrm>
          <a:prstGeom prst="rect">
            <a:avLst/>
          </a:prstGeom>
          <a:noFill/>
        </p:spPr>
        <p:txBody>
          <a:bodyPr wrap="none" tIns="0" bIns="0" lIns="0" rIns="0">
            <a:spAutoFit/>
          </a:bodyPr>
          <a:lstStyle/>
          <a:p>
            <a:pPr>
              <a:defRPr sz="950" b="1">
                <a:solidFill>
                  <a:srgbClr val="9A7B2C"/>
                </a:solidFill>
              </a:defRPr>
            </a:pPr>
            <a:r>
              <a:t>INSTITUTIONAL CLIENT INTERACTION</a:t>
            </a:r>
          </a:p>
        </p:txBody>
      </p:sp>
      <p:sp>
        <p:nvSpPr>
          <p:cNvPr id="3" name="TextBox 2"/>
          <p:cNvSpPr txBox="1"/>
          <p:nvPr/>
        </p:nvSpPr>
        <p:spPr>
          <a:xfrm>
            <a:off x="731520" y="594360"/>
            <a:ext cx="8229600" cy="594360"/>
          </a:xfrm>
          <a:prstGeom prst="rect">
            <a:avLst/>
          </a:prstGeom>
          <a:noFill/>
        </p:spPr>
        <p:txBody>
          <a:bodyPr wrap="square" tIns="0" bIns="0" lIns="0" rIns="0">
            <a:spAutoFit/>
          </a:bodyPr>
          <a:lstStyle/>
          <a:p>
            <a:pPr>
              <a:defRPr sz="2100" b="1">
                <a:solidFill>
                  <a:srgbClr val="1A1A1A"/>
                </a:solidFill>
              </a:defRPr>
            </a:pPr>
            <a:r>
              <a:t>Website Advisory Chatbot</a:t>
            </a:r>
          </a:p>
        </p:txBody>
      </p:sp>
      <p:sp>
        <p:nvSpPr>
          <p:cNvPr id="4" name="Rounded Rectangle 3"/>
          <p:cNvSpPr/>
          <p:nvPr/>
        </p:nvSpPr>
        <p:spPr>
          <a:xfrm>
            <a:off x="9052560" y="502920"/>
            <a:ext cx="2377440" cy="329184"/>
          </a:xfrm>
          <a:prstGeom prst="roundRect">
            <a:avLst/>
          </a:prstGeom>
          <a:solidFill>
            <a:srgbClr val="ECFDF5"/>
          </a:solidFill>
          <a:ln w="1270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059669"/>
                </a:solidFill>
              </a:defRPr>
            </a:pPr>
            <a:r>
              <a:t>LIVE ADVISORY AGENT</a:t>
            </a:r>
          </a:p>
        </p:txBody>
      </p:sp>
      <p:sp>
        <p:nvSpPr>
          <p:cNvPr id="5" name="TextBox 4"/>
          <p:cNvSpPr txBox="1"/>
          <p:nvPr/>
        </p:nvSpPr>
        <p:spPr>
          <a:xfrm>
            <a:off x="10789920" y="6492240"/>
            <a:ext cx="731520" cy="274320"/>
          </a:xfrm>
          <a:prstGeom prst="rect">
            <a:avLst/>
          </a:prstGeom>
          <a:noFill/>
        </p:spPr>
        <p:txBody>
          <a:bodyPr wrap="none" tIns="0" bIns="0" lIns="0" rIns="0">
            <a:spAutoFit/>
          </a:bodyPr>
          <a:lstStyle/>
          <a:p>
            <a:pPr algn="r">
              <a:defRPr sz="900">
                <a:solidFill>
                  <a:srgbClr val="8A8A8A"/>
                </a:solidFill>
              </a:defRPr>
            </a:pPr>
            <a:r>
              <a:t>04 / 08</a:t>
            </a:r>
          </a:p>
        </p:txBody>
      </p:sp>
      <p:sp>
        <p:nvSpPr>
          <p:cNvPr id="6" name="Rounded Rectangle 5"/>
          <p:cNvSpPr/>
          <p:nvPr/>
        </p:nvSpPr>
        <p:spPr>
          <a:xfrm>
            <a:off x="731520" y="1371600"/>
            <a:ext cx="4663440" cy="48920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bIns="228600"/>
          <a:lstStyle/>
          <a:p>
            <a:pPr algn="ctr">
              <a:spcAft>
                <a:spcPts val="600"/>
              </a:spcAft>
              <a:defRPr sz="950" b="1">
                <a:solidFill>
                  <a:srgbClr val="9A7B2C"/>
                </a:solidFill>
              </a:defRPr>
            </a:pPr>
            <a:r>
              <a:t>CHATBOT CAPABILITIES &amp; VERIFIED BEHAVIOR</a:t>
            </a:r>
          </a:p>
          <a:p>
            <a:pPr>
              <a:spcBef>
                <a:spcPts val="300"/>
              </a:spcBef>
              <a:defRPr sz="950" b="1">
                <a:solidFill>
                  <a:srgbClr val="1A1A1A"/>
                </a:solidFill>
              </a:defRPr>
            </a:pPr>
            <a:r>
              <a:t>•  Institutional Grounding:</a:t>
            </a:r>
          </a:p>
          <a:p>
            <a:pPr>
              <a:defRPr sz="900">
                <a:solidFill>
                  <a:srgbClr val="5C5C5C"/>
                </a:solidFill>
              </a:defRPr>
            </a:pPr>
            <a:r>
              <a:t>   Trained strictly on Niventra Capital Advisory public disclosures, product structures, and investor qualification guidelines.</a:t>
            </a:r>
          </a:p>
          <a:p>
            <a:pPr>
              <a:spcBef>
                <a:spcPts val="300"/>
              </a:spcBef>
              <a:defRPr sz="950" b="1">
                <a:solidFill>
                  <a:srgbClr val="1A1A1A"/>
                </a:solidFill>
              </a:defRPr>
            </a:pPr>
            <a:r>
              <a:t>•  Verified Real-Time Query:</a:t>
            </a:r>
          </a:p>
          <a:p>
            <a:pPr>
              <a:defRPr sz="900">
                <a:solidFill>
                  <a:srgbClr val="5C5C5C"/>
                </a:solidFill>
              </a:defRPr>
            </a:pPr>
            <a:r>
              <a:t>   Tested live on Vercel with query: 'What are the eligibility criteria for real estate project funding?'. Returned accurate senior secured debt criteria, ₹25L minimum ticket size, and direct link to /project-funding/.</a:t>
            </a:r>
          </a:p>
          <a:p>
            <a:pPr>
              <a:spcBef>
                <a:spcPts val="300"/>
              </a:spcBef>
              <a:defRPr sz="950" b="1">
                <a:solidFill>
                  <a:srgbClr val="1A1A1A"/>
                </a:solidFill>
              </a:defRPr>
            </a:pPr>
            <a:r>
              <a:t>•  24/7 Client Navigation:</a:t>
            </a:r>
          </a:p>
          <a:p>
            <a:pPr>
              <a:defRPr sz="900">
                <a:solidFill>
                  <a:srgbClr val="5C5C5C"/>
                </a:solidFill>
              </a:defRPr>
            </a:pPr>
            <a:r>
              <a:t>   Assists corporate visitors, debt issuers, and HNIs in discovering relevant advisory services, branch locations, and calculators.</a:t>
            </a:r>
          </a:p>
          <a:p>
            <a:pPr>
              <a:spcBef>
                <a:spcPts val="300"/>
              </a:spcBef>
              <a:defRPr sz="950" b="1">
                <a:solidFill>
                  <a:srgbClr val="1A1A1A"/>
                </a:solidFill>
              </a:defRPr>
            </a:pPr>
            <a:r>
              <a:t>•  Privacy &amp; Consent:</a:t>
            </a:r>
          </a:p>
          <a:p>
            <a:pPr>
              <a:defRPr sz="900">
                <a:solidFill>
                  <a:srgbClr val="5C5C5C"/>
                </a:solidFill>
              </a:defRPr>
            </a:pPr>
            <a:r>
              <a:t>   Does not store personal investor credentials or track unsolicited telemetry; fully aligns with DPDP Act principles.</a:t>
            </a:r>
          </a:p>
          <a:p>
            <a:pPr>
              <a:spcBef>
                <a:spcPts val="600"/>
              </a:spcBef>
              <a:spcAft>
                <a:spcPts val="200"/>
              </a:spcAft>
              <a:defRPr sz="850" b="1">
                <a:solidFill>
                  <a:srgbClr val="D97706"/>
                </a:solidFill>
              </a:defRPr>
            </a:pPr>
            <a:r>
              <a:t>GOVERNANCE &amp; BOUNDARIES</a:t>
            </a:r>
          </a:p>
          <a:p>
            <a:pPr>
              <a:defRPr sz="850">
                <a:solidFill>
                  <a:srgbClr val="5C5C5C"/>
                </a:solidFill>
              </a:defRPr>
            </a:pPr>
            <a:r>
              <a:t>• Knowledge-Bounded Assistant: Operates on institutional knowledge retrieval; not an autonomous financial adviser.</a:t>
            </a:r>
            <a:br/>
            <a:r>
              <a:t>• No Fiduciary Advice: Does not provide live investment recommendations, guaranteed return commitments, or legally binding loan sanctions.</a:t>
            </a:r>
          </a:p>
        </p:txBody>
      </p:sp>
      <p:sp>
        <p:nvSpPr>
          <p:cNvPr id="7" name="Rounded Rectangle 6"/>
          <p:cNvSpPr/>
          <p:nvPr/>
        </p:nvSpPr>
        <p:spPr>
          <a:xfrm>
            <a:off x="5623560" y="1371600"/>
            <a:ext cx="5833872" cy="48920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04_chatbot_closeup.png"/>
          <p:cNvPicPr>
            <a:picLocks noChangeAspect="1"/>
          </p:cNvPicPr>
          <p:nvPr/>
        </p:nvPicPr>
        <p:blipFill>
          <a:blip r:embed="rId2"/>
          <a:stretch>
            <a:fillRect/>
          </a:stretch>
        </p:blipFill>
        <p:spPr>
          <a:xfrm>
            <a:off x="5715000" y="1463040"/>
            <a:ext cx="3383280" cy="4622505"/>
          </a:xfrm>
          <a:prstGeom prst="rect">
            <a:avLst/>
          </a:prstGeom>
        </p:spPr>
      </p:pic>
      <p:sp>
        <p:nvSpPr>
          <p:cNvPr id="9" name="Rounded Rectangle 8"/>
          <p:cNvSpPr/>
          <p:nvPr/>
        </p:nvSpPr>
        <p:spPr>
          <a:xfrm>
            <a:off x="9281160" y="1463040"/>
            <a:ext cx="2057400" cy="466344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137160" bIns="137160"/>
          <a:lstStyle/>
          <a:p>
            <a:pPr algn="ctr">
              <a:spcAft>
                <a:spcPts val="400"/>
              </a:spcAft>
              <a:defRPr sz="850" b="1">
                <a:solidFill>
                  <a:srgbClr val="9A7B2C"/>
                </a:solidFill>
              </a:defRPr>
            </a:pPr>
            <a:r>
              <a:t>LIVE DIALOGUE AUDIT</a:t>
            </a:r>
          </a:p>
          <a:p>
            <a:pPr>
              <a:spcAft>
                <a:spcPts val="600"/>
              </a:spcAft>
              <a:defRPr sz="850">
                <a:solidFill>
                  <a:srgbClr val="1A1A1A"/>
                </a:solidFill>
              </a:defRPr>
            </a:pPr>
            <a:r>
              <a:t>Verified User Query:</a:t>
            </a:r>
            <a:br/>
            <a:r>
              <a:t>'What are the eligibility criteria for real estate project funding?'</a:t>
            </a:r>
          </a:p>
          <a:p>
            <a:pPr>
              <a:spcAft>
                <a:spcPts val="600"/>
              </a:spcAft>
              <a:defRPr sz="800">
                <a:solidFill>
                  <a:srgbClr val="059669"/>
                </a:solidFill>
              </a:defRPr>
            </a:pPr>
            <a:r>
              <a:t>Grounded Response:</a:t>
            </a:r>
            <a:br/>
            <a:r>
              <a:t>Outlines 7-stage project evaluation: (1) Application, (2) KYC &amp; Clearances, (3) Title Due Diligence, (4) Feasibility, (5) Committee Approval, (6) ROC Charge Creation, (7) Milestone Disbursements.</a:t>
            </a:r>
          </a:p>
          <a:p>
            <a:pPr>
              <a:defRPr sz="800">
                <a:solidFill>
                  <a:srgbClr val="5C5C5C"/>
                </a:solidFill>
              </a:defRPr>
            </a:pPr>
            <a:r>
              <a:t>Citation Link:</a:t>
            </a:r>
            <a:br/>
            <a:r>
              <a:t>Directs user to '7-Stage Project Evaluation Journey'.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TextBox 1"/>
          <p:cNvSpPr txBox="1"/>
          <p:nvPr/>
        </p:nvSpPr>
        <p:spPr>
          <a:xfrm>
            <a:off x="731520" y="365760"/>
            <a:ext cx="8229600" cy="228600"/>
          </a:xfrm>
          <a:prstGeom prst="rect">
            <a:avLst/>
          </a:prstGeom>
          <a:noFill/>
        </p:spPr>
        <p:txBody>
          <a:bodyPr wrap="none" tIns="0" bIns="0" lIns="0" rIns="0">
            <a:spAutoFit/>
          </a:bodyPr>
          <a:lstStyle/>
          <a:p>
            <a:pPr>
              <a:defRPr sz="950" b="1">
                <a:solidFill>
                  <a:srgbClr val="9A7B2C"/>
                </a:solidFill>
              </a:defRPr>
            </a:pPr>
            <a:r>
              <a:t>INVESTOR FINANCIAL MODELLING</a:t>
            </a:r>
          </a:p>
        </p:txBody>
      </p:sp>
      <p:sp>
        <p:nvSpPr>
          <p:cNvPr id="3" name="TextBox 2"/>
          <p:cNvSpPr txBox="1"/>
          <p:nvPr/>
        </p:nvSpPr>
        <p:spPr>
          <a:xfrm>
            <a:off x="731520" y="594360"/>
            <a:ext cx="8229600" cy="594360"/>
          </a:xfrm>
          <a:prstGeom prst="rect">
            <a:avLst/>
          </a:prstGeom>
          <a:noFill/>
        </p:spPr>
        <p:txBody>
          <a:bodyPr wrap="square" tIns="0" bIns="0" lIns="0" rIns="0">
            <a:spAutoFit/>
          </a:bodyPr>
          <a:lstStyle/>
          <a:p>
            <a:pPr>
              <a:defRPr sz="2100" b="1">
                <a:solidFill>
                  <a:srgbClr val="1A1A1A"/>
                </a:solidFill>
              </a:defRPr>
            </a:pPr>
            <a:r>
              <a:t>Investment Return Calculator</a:t>
            </a:r>
          </a:p>
        </p:txBody>
      </p:sp>
      <p:sp>
        <p:nvSpPr>
          <p:cNvPr id="4" name="Rounded Rectangle 3"/>
          <p:cNvSpPr/>
          <p:nvPr/>
        </p:nvSpPr>
        <p:spPr>
          <a:xfrm>
            <a:off x="9052560" y="502920"/>
            <a:ext cx="2377440" cy="329184"/>
          </a:xfrm>
          <a:prstGeom prst="roundRect">
            <a:avLst/>
          </a:prstGeom>
          <a:solidFill>
            <a:srgbClr val="ECFDF5"/>
          </a:solidFill>
          <a:ln w="1270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059669"/>
                </a:solidFill>
              </a:defRPr>
            </a:pPr>
            <a:r>
              <a:t>LIVE (ILLUSTRATIVE)</a:t>
            </a:r>
          </a:p>
        </p:txBody>
      </p:sp>
      <p:sp>
        <p:nvSpPr>
          <p:cNvPr id="5" name="TextBox 4"/>
          <p:cNvSpPr txBox="1"/>
          <p:nvPr/>
        </p:nvSpPr>
        <p:spPr>
          <a:xfrm>
            <a:off x="10789920" y="6492240"/>
            <a:ext cx="731520" cy="274320"/>
          </a:xfrm>
          <a:prstGeom prst="rect">
            <a:avLst/>
          </a:prstGeom>
          <a:noFill/>
        </p:spPr>
        <p:txBody>
          <a:bodyPr wrap="none" tIns="0" bIns="0" lIns="0" rIns="0">
            <a:spAutoFit/>
          </a:bodyPr>
          <a:lstStyle/>
          <a:p>
            <a:pPr algn="r">
              <a:defRPr sz="900">
                <a:solidFill>
                  <a:srgbClr val="8A8A8A"/>
                </a:solidFill>
              </a:defRPr>
            </a:pPr>
            <a:r>
              <a:t>05 / 08</a:t>
            </a:r>
          </a:p>
        </p:txBody>
      </p:sp>
      <p:sp>
        <p:nvSpPr>
          <p:cNvPr id="6" name="Rounded Rectangle 5"/>
          <p:cNvSpPr/>
          <p:nvPr/>
        </p:nvSpPr>
        <p:spPr>
          <a:xfrm>
            <a:off x="731520" y="1371600"/>
            <a:ext cx="4389120" cy="48920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bIns="228600"/>
          <a:lstStyle/>
          <a:p>
            <a:pPr algn="ctr">
              <a:spcAft>
                <a:spcPts val="600"/>
              </a:spcAft>
              <a:defRPr sz="950" b="1">
                <a:solidFill>
                  <a:srgbClr val="9A7B2C"/>
                </a:solidFill>
              </a:defRPr>
            </a:pPr>
            <a:r>
              <a:t>WORKED DEMONSTRATION CALCULATION</a:t>
            </a:r>
          </a:p>
          <a:p>
            <a:pPr>
              <a:spcAft>
                <a:spcPts val="250"/>
              </a:spcAft>
              <a:defRPr sz="900">
                <a:solidFill>
                  <a:srgbClr val="1A1A1A"/>
                </a:solidFill>
              </a:defRPr>
            </a:pPr>
            <a:r>
              <a:t>•  Principal Investment: ₹25,00,000 (Institutional Minimum Ticket)</a:t>
            </a:r>
          </a:p>
          <a:p>
            <a:pPr>
              <a:spcAft>
                <a:spcPts val="250"/>
              </a:spcAft>
              <a:defRPr sz="900">
                <a:solidFill>
                  <a:srgbClr val="1A1A1A"/>
                </a:solidFill>
              </a:defRPr>
            </a:pPr>
            <a:r>
              <a:t>•  Indicative Annual Rate: 14.50% p.a. (Senior Secured Debenture Model)</a:t>
            </a:r>
          </a:p>
          <a:p>
            <a:pPr>
              <a:spcAft>
                <a:spcPts val="250"/>
              </a:spcAft>
              <a:defRPr sz="900">
                <a:solidFill>
                  <a:srgbClr val="1A1A1A"/>
                </a:solidFill>
              </a:defRPr>
            </a:pPr>
            <a:r>
              <a:t>•  Investment Tenor: 36 Months (Quarterly Coupon / Bullet Redemption)</a:t>
            </a:r>
          </a:p>
          <a:p>
            <a:pPr>
              <a:spcAft>
                <a:spcPts val="250"/>
              </a:spcAft>
              <a:defRPr sz="900">
                <a:solidFill>
                  <a:srgbClr val="1A1A1A"/>
                </a:solidFill>
              </a:defRPr>
            </a:pPr>
            <a:r>
              <a:t>•  Total Interest Earned: ₹10,87,500 over 3-year term</a:t>
            </a:r>
          </a:p>
          <a:p>
            <a:pPr>
              <a:spcAft>
                <a:spcPts val="250"/>
              </a:spcAft>
              <a:defRPr sz="900">
                <a:solidFill>
                  <a:srgbClr val="1A1A1A"/>
                </a:solidFill>
              </a:defRPr>
            </a:pPr>
            <a:r>
              <a:t>•  Monthly Gross Payout: ₹36,250 indicative cash-flow</a:t>
            </a:r>
          </a:p>
          <a:p>
            <a:pPr>
              <a:spcAft>
                <a:spcPts val="250"/>
              </a:spcAft>
              <a:defRPr sz="900">
                <a:solidFill>
                  <a:srgbClr val="1A1A1A"/>
                </a:solidFill>
              </a:defRPr>
            </a:pPr>
            <a:r>
              <a:t>•  Net Monthly Payout: ₹32,625 after Section 193 TDS (10%)</a:t>
            </a:r>
          </a:p>
          <a:p>
            <a:pPr>
              <a:spcBef>
                <a:spcPts val="400"/>
              </a:spcBef>
              <a:spcAft>
                <a:spcPts val="200"/>
              </a:spcAft>
              <a:defRPr sz="850" b="1">
                <a:solidFill>
                  <a:srgbClr val="059669"/>
                </a:solidFill>
              </a:defRPr>
            </a:pPr>
            <a:r>
              <a:t>MATHEMATICAL FORMULA &amp; SCHEDULE</a:t>
            </a:r>
          </a:p>
          <a:p>
            <a:pPr>
              <a:defRPr sz="850">
                <a:solidFill>
                  <a:srgbClr val="5C5C5C"/>
                </a:solidFill>
              </a:defRPr>
            </a:pPr>
            <a:r>
              <a:t>• Verified Formula: Simple interest coupon model [Interest = (P × R × T) / 100].</a:t>
            </a:r>
            <a:br/>
            <a:r>
              <a:t>• Interactive Cash-Flow Schedule: Displays quarterly coupon distribution calendar.</a:t>
            </a:r>
          </a:p>
          <a:p>
            <a:pPr>
              <a:spcBef>
                <a:spcPts val="400"/>
              </a:spcBef>
              <a:spcAft>
                <a:spcPts val="200"/>
              </a:spcAft>
              <a:defRPr sz="850" b="1">
                <a:solidFill>
                  <a:srgbClr val="D97706"/>
                </a:solidFill>
              </a:defRPr>
            </a:pPr>
            <a:r>
              <a:t>DISCLAIMER &amp; CFO GOVERNANCE</a:t>
            </a:r>
          </a:p>
          <a:p>
            <a:pPr>
              <a:defRPr sz="800">
                <a:solidFill>
                  <a:srgbClr val="5C5C5C"/>
                </a:solidFill>
              </a:defRPr>
            </a:pPr>
            <a:r>
              <a:t>• Illustrative Model Only: Does not represent a guaranteed return or certified projection.</a:t>
            </a:r>
            <a:br/>
            <a:r>
              <a:t>• Regulatory Compliance: Tax deductions subject to Section 193 Indian Income Tax Act.</a:t>
            </a:r>
            <a:br/>
            <a:r>
              <a:t>• CFO Deferral: Default interest rates await formal CFO policy approval.</a:t>
            </a:r>
          </a:p>
        </p:txBody>
      </p:sp>
      <p:sp>
        <p:nvSpPr>
          <p:cNvPr id="7" name="Rounded Rectangle 6"/>
          <p:cNvSpPr/>
          <p:nvPr/>
        </p:nvSpPr>
        <p:spPr>
          <a:xfrm>
            <a:off x="5349240" y="1371600"/>
            <a:ext cx="6126480" cy="48920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05_calculator_interface.png"/>
          <p:cNvPicPr>
            <a:picLocks noChangeAspect="1"/>
          </p:cNvPicPr>
          <p:nvPr/>
        </p:nvPicPr>
        <p:blipFill>
          <a:blip r:embed="rId2"/>
          <a:stretch>
            <a:fillRect/>
          </a:stretch>
        </p:blipFill>
        <p:spPr>
          <a:xfrm>
            <a:off x="5413248" y="1435608"/>
            <a:ext cx="5998464" cy="4165600"/>
          </a:xfrm>
          <a:prstGeom prst="rect">
            <a:avLst/>
          </a:prstGeom>
        </p:spPr>
      </p:pic>
      <p:sp>
        <p:nvSpPr>
          <p:cNvPr id="9" name="TextBox 8"/>
          <p:cNvSpPr txBox="1"/>
          <p:nvPr/>
        </p:nvSpPr>
        <p:spPr>
          <a:xfrm>
            <a:off x="5413248" y="5943600"/>
            <a:ext cx="5998464" cy="228600"/>
          </a:xfrm>
          <a:prstGeom prst="rect">
            <a:avLst/>
          </a:prstGeom>
          <a:noFill/>
        </p:spPr>
        <p:txBody>
          <a:bodyPr wrap="none" tIns="0" bIns="0" lIns="0" rIns="0">
            <a:spAutoFit/>
          </a:bodyPr>
          <a:lstStyle/>
          <a:p>
            <a:pPr algn="ctr">
              <a:defRPr sz="850">
                <a:solidFill>
                  <a:srgbClr val="8A8A8A"/>
                </a:solidFill>
              </a:defRPr>
            </a:pPr>
            <a:r>
              <a:t>Live /calculator/ Interface: ₹25L Principal @ 14.50% with Indicative Cash-Flow Schedule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TextBox 1"/>
          <p:cNvSpPr txBox="1"/>
          <p:nvPr/>
        </p:nvSpPr>
        <p:spPr>
          <a:xfrm>
            <a:off x="731520" y="365760"/>
            <a:ext cx="8229600" cy="228600"/>
          </a:xfrm>
          <a:prstGeom prst="rect">
            <a:avLst/>
          </a:prstGeom>
          <a:noFill/>
        </p:spPr>
        <p:txBody>
          <a:bodyPr wrap="none" tIns="0" bIns="0" lIns="0" rIns="0">
            <a:spAutoFit/>
          </a:bodyPr>
          <a:lstStyle/>
          <a:p>
            <a:pPr>
              <a:defRPr sz="950" b="1">
                <a:solidFill>
                  <a:srgbClr val="9A7B2C"/>
                </a:solidFill>
              </a:defRPr>
            </a:pPr>
            <a:r>
              <a:t>PHYSICAL INFRASTRUCTURE &amp; GOVERNANCE</a:t>
            </a:r>
          </a:p>
        </p:txBody>
      </p:sp>
      <p:sp>
        <p:nvSpPr>
          <p:cNvPr id="3" name="TextBox 2"/>
          <p:cNvSpPr txBox="1"/>
          <p:nvPr/>
        </p:nvSpPr>
        <p:spPr>
          <a:xfrm>
            <a:off x="731520" y="594360"/>
            <a:ext cx="8229600" cy="594360"/>
          </a:xfrm>
          <a:prstGeom prst="rect">
            <a:avLst/>
          </a:prstGeom>
          <a:noFill/>
        </p:spPr>
        <p:txBody>
          <a:bodyPr wrap="square" tIns="0" bIns="0" lIns="0" rIns="0">
            <a:spAutoFit/>
          </a:bodyPr>
          <a:lstStyle/>
          <a:p>
            <a:pPr>
              <a:defRPr sz="2100" b="1">
                <a:solidFill>
                  <a:srgbClr val="1A1A1A"/>
                </a:solidFill>
              </a:defRPr>
            </a:pPr>
            <a:r>
              <a:t>Branch Directory &amp; Office Locations</a:t>
            </a:r>
          </a:p>
        </p:txBody>
      </p:sp>
      <p:sp>
        <p:nvSpPr>
          <p:cNvPr id="4" name="Rounded Rectangle 3"/>
          <p:cNvSpPr/>
          <p:nvPr/>
        </p:nvSpPr>
        <p:spPr>
          <a:xfrm>
            <a:off x="9052560" y="502920"/>
            <a:ext cx="2377440" cy="329184"/>
          </a:xfrm>
          <a:prstGeom prst="roundRect">
            <a:avLst/>
          </a:prstGeom>
          <a:solidFill>
            <a:srgbClr val="ECFDF5"/>
          </a:solidFill>
          <a:ln w="1270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059669"/>
                </a:solidFill>
              </a:defRPr>
            </a:pPr>
            <a:r>
              <a:t>LIVE (25 LOCATIONS)</a:t>
            </a:r>
          </a:p>
        </p:txBody>
      </p:sp>
      <p:sp>
        <p:nvSpPr>
          <p:cNvPr id="5" name="TextBox 4"/>
          <p:cNvSpPr txBox="1"/>
          <p:nvPr/>
        </p:nvSpPr>
        <p:spPr>
          <a:xfrm>
            <a:off x="10789920" y="6492240"/>
            <a:ext cx="731520" cy="274320"/>
          </a:xfrm>
          <a:prstGeom prst="rect">
            <a:avLst/>
          </a:prstGeom>
          <a:noFill/>
        </p:spPr>
        <p:txBody>
          <a:bodyPr wrap="none" tIns="0" bIns="0" lIns="0" rIns="0">
            <a:spAutoFit/>
          </a:bodyPr>
          <a:lstStyle/>
          <a:p>
            <a:pPr algn="r">
              <a:defRPr sz="900">
                <a:solidFill>
                  <a:srgbClr val="8A8A8A"/>
                </a:solidFill>
              </a:defRPr>
            </a:pPr>
            <a:r>
              <a:t>06 / 08</a:t>
            </a:r>
          </a:p>
        </p:txBody>
      </p:sp>
      <p:sp>
        <p:nvSpPr>
          <p:cNvPr id="6" name="Rounded Rectangle 5"/>
          <p:cNvSpPr/>
          <p:nvPr/>
        </p:nvSpPr>
        <p:spPr>
          <a:xfrm>
            <a:off x="731520" y="1280160"/>
            <a:ext cx="10728655" cy="1097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137160" bIns="137160"/>
          <a:lstStyle/>
          <a:p>
            <a:pPr algn="ctr">
              <a:spcAft>
                <a:spcPts val="200"/>
              </a:spcAft>
              <a:defRPr sz="950" b="1">
                <a:solidFill>
                  <a:srgbClr val="9A7B2C"/>
                </a:solidFill>
              </a:defRPr>
            </a:pPr>
            <a:r>
              <a:t>COMPLETE 25-LOCATION DIRECTORY DISTRIBUTION (/contact/)</a:t>
            </a:r>
          </a:p>
          <a:p>
            <a:pPr>
              <a:defRPr sz="850">
                <a:solidFill>
                  <a:srgbClr val="1A1A1A"/>
                </a:solidFill>
              </a:defRPr>
            </a:pPr>
            <a:r>
              <a:t>• Madhya Pradesh (12): Gwalior (MCA Registered Head Office), Bhopal, Indore, Jabalpur, Ujjain, Sagar, Dewas, Satna, Ratlam, Rewa, Singrauli, Burhanpur.</a:t>
            </a:r>
            <a:br/>
            <a:r>
              <a:t>• Rajasthan (7): Jaipur, Jodhpur, Kota, Bikaner, Ajmer, Udaipur, Bhilwara.   • Uttar Pradesh (3): Lucknow, Kanpur, Agra.</a:t>
            </a:r>
            <a:br/>
            <a:r>
              <a:t>• Delhi NCR (2): New Delhi (Operational Northern Advisory Desk), Connaught Place.   • Haryana (1): Gurugram (Corporate Finance Hub).</a:t>
            </a:r>
          </a:p>
        </p:txBody>
      </p:sp>
      <p:sp>
        <p:nvSpPr>
          <p:cNvPr id="7" name="Rounded Rectangle 6"/>
          <p:cNvSpPr/>
          <p:nvPr/>
        </p:nvSpPr>
        <p:spPr>
          <a:xfrm>
            <a:off x="731520" y="2514600"/>
            <a:ext cx="5257800" cy="39319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06a_branch_directory_head_office.png"/>
          <p:cNvPicPr>
            <a:picLocks noChangeAspect="1"/>
          </p:cNvPicPr>
          <p:nvPr/>
        </p:nvPicPr>
        <p:blipFill>
          <a:blip r:embed="rId2"/>
          <a:stretch>
            <a:fillRect/>
          </a:stretch>
        </p:blipFill>
        <p:spPr>
          <a:xfrm>
            <a:off x="804672" y="2578608"/>
            <a:ext cx="5111496" cy="3549650"/>
          </a:xfrm>
          <a:prstGeom prst="rect">
            <a:avLst/>
          </a:prstGeom>
        </p:spPr>
      </p:pic>
      <p:sp>
        <p:nvSpPr>
          <p:cNvPr id="9" name="TextBox 8"/>
          <p:cNvSpPr txBox="1"/>
          <p:nvPr/>
        </p:nvSpPr>
        <p:spPr>
          <a:xfrm>
            <a:off x="804672" y="6172200"/>
            <a:ext cx="5111496" cy="228600"/>
          </a:xfrm>
          <a:prstGeom prst="rect">
            <a:avLst/>
          </a:prstGeom>
          <a:noFill/>
        </p:spPr>
        <p:txBody>
          <a:bodyPr wrap="none" tIns="0" bIns="0" lIns="0" rIns="0">
            <a:spAutoFit/>
          </a:bodyPr>
          <a:lstStyle/>
          <a:p>
            <a:pPr algn="ctr">
              <a:defRPr sz="800">
                <a:solidFill>
                  <a:srgbClr val="8A8A8A"/>
                </a:solidFill>
              </a:defRPr>
            </a:pPr>
            <a:r>
              <a:t>Gwalior Registered Head Office (CIN: L17111MP1984PLC002492) &amp; State Filter Tabs</a:t>
            </a:r>
          </a:p>
        </p:txBody>
      </p:sp>
      <p:sp>
        <p:nvSpPr>
          <p:cNvPr id="10" name="Rounded Rectangle 9"/>
          <p:cNvSpPr/>
          <p:nvPr/>
        </p:nvSpPr>
        <p:spPr>
          <a:xfrm>
            <a:off x="6199632" y="2514600"/>
            <a:ext cx="5257800" cy="39319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06b_branch_directory_grid.png"/>
          <p:cNvPicPr>
            <a:picLocks noChangeAspect="1"/>
          </p:cNvPicPr>
          <p:nvPr/>
        </p:nvPicPr>
        <p:blipFill>
          <a:blip r:embed="rId3"/>
          <a:stretch>
            <a:fillRect/>
          </a:stretch>
        </p:blipFill>
        <p:spPr>
          <a:xfrm>
            <a:off x="6272784" y="2578608"/>
            <a:ext cx="5111496" cy="3549650"/>
          </a:xfrm>
          <a:prstGeom prst="rect">
            <a:avLst/>
          </a:prstGeom>
        </p:spPr>
      </p:pic>
      <p:sp>
        <p:nvSpPr>
          <p:cNvPr id="12" name="TextBox 11"/>
          <p:cNvSpPr txBox="1"/>
          <p:nvPr/>
        </p:nvSpPr>
        <p:spPr>
          <a:xfrm>
            <a:off x="6272784" y="6172200"/>
            <a:ext cx="5111496" cy="228600"/>
          </a:xfrm>
          <a:prstGeom prst="rect">
            <a:avLst/>
          </a:prstGeom>
          <a:noFill/>
        </p:spPr>
        <p:txBody>
          <a:bodyPr wrap="none" tIns="0" bIns="0" lIns="0" rIns="0">
            <a:spAutoFit/>
          </a:bodyPr>
          <a:lstStyle/>
          <a:p>
            <a:pPr algn="ctr">
              <a:defRPr sz="800">
                <a:solidFill>
                  <a:srgbClr val="8A8A8A"/>
                </a:solidFill>
              </a:defRPr>
            </a:pPr>
            <a:r>
              <a:t>Regional Branch Cards Grid: Instant Search &amp; Multi-State Branch Details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TextBox 1"/>
          <p:cNvSpPr txBox="1"/>
          <p:nvPr/>
        </p:nvSpPr>
        <p:spPr>
          <a:xfrm>
            <a:off x="731520" y="365760"/>
            <a:ext cx="8229600" cy="228600"/>
          </a:xfrm>
          <a:prstGeom prst="rect">
            <a:avLst/>
          </a:prstGeom>
          <a:noFill/>
        </p:spPr>
        <p:txBody>
          <a:bodyPr wrap="none" tIns="0" bIns="0" lIns="0" rIns="0">
            <a:spAutoFit/>
          </a:bodyPr>
          <a:lstStyle/>
          <a:p>
            <a:pPr>
              <a:defRPr sz="950" b="1">
                <a:solidFill>
                  <a:srgbClr val="9A7B2C"/>
                </a:solidFill>
              </a:defRPr>
            </a:pPr>
            <a:r>
              <a:t>PORTAL GOVERNANCE &amp; DASHBOARD</a:t>
            </a:r>
          </a:p>
        </p:txBody>
      </p:sp>
      <p:sp>
        <p:nvSpPr>
          <p:cNvPr id="3" name="TextBox 2"/>
          <p:cNvSpPr txBox="1"/>
          <p:nvPr/>
        </p:nvSpPr>
        <p:spPr>
          <a:xfrm>
            <a:off x="731520" y="594360"/>
            <a:ext cx="8229600" cy="594360"/>
          </a:xfrm>
          <a:prstGeom prst="rect">
            <a:avLst/>
          </a:prstGeom>
          <a:noFill/>
        </p:spPr>
        <p:txBody>
          <a:bodyPr wrap="square" tIns="0" bIns="0" lIns="0" rIns="0">
            <a:spAutoFit/>
          </a:bodyPr>
          <a:lstStyle/>
          <a:p>
            <a:pPr>
              <a:defRPr sz="2100" b="1">
                <a:solidFill>
                  <a:srgbClr val="1A1A1A"/>
                </a:solidFill>
              </a:defRPr>
            </a:pPr>
            <a:r>
              <a:t>Accredited Investor Portal &amp; Tracking</a:t>
            </a:r>
          </a:p>
        </p:txBody>
      </p:sp>
      <p:sp>
        <p:nvSpPr>
          <p:cNvPr id="4" name="Rounded Rectangle 3"/>
          <p:cNvSpPr/>
          <p:nvPr/>
        </p:nvSpPr>
        <p:spPr>
          <a:xfrm>
            <a:off x="9052560" y="502920"/>
            <a:ext cx="2377440" cy="329184"/>
          </a:xfrm>
          <a:prstGeom prst="roundRect">
            <a:avLst/>
          </a:prstGeom>
          <a:solidFill>
            <a:srgbClr val="FEF3C7"/>
          </a:solidFill>
          <a:ln w="1270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D97706"/>
                </a:solidFill>
              </a:defRPr>
            </a:pPr>
            <a:r>
              <a:t>GATE LIVE / DASH DEMO</a:t>
            </a:r>
          </a:p>
        </p:txBody>
      </p:sp>
      <p:sp>
        <p:nvSpPr>
          <p:cNvPr id="5" name="TextBox 4"/>
          <p:cNvSpPr txBox="1"/>
          <p:nvPr/>
        </p:nvSpPr>
        <p:spPr>
          <a:xfrm>
            <a:off x="10789920" y="6492240"/>
            <a:ext cx="731520" cy="274320"/>
          </a:xfrm>
          <a:prstGeom prst="rect">
            <a:avLst/>
          </a:prstGeom>
          <a:noFill/>
        </p:spPr>
        <p:txBody>
          <a:bodyPr wrap="none" tIns="0" bIns="0" lIns="0" rIns="0">
            <a:spAutoFit/>
          </a:bodyPr>
          <a:lstStyle/>
          <a:p>
            <a:pPr algn="r">
              <a:defRPr sz="900">
                <a:solidFill>
                  <a:srgbClr val="8A8A8A"/>
                </a:solidFill>
              </a:defRPr>
            </a:pPr>
            <a:r>
              <a:t>07 / 08</a:t>
            </a:r>
          </a:p>
        </p:txBody>
      </p:sp>
      <p:sp>
        <p:nvSpPr>
          <p:cNvPr id="6" name="Rounded Rectangle 5"/>
          <p:cNvSpPr/>
          <p:nvPr/>
        </p:nvSpPr>
        <p:spPr>
          <a:xfrm>
            <a:off x="731520" y="1371600"/>
            <a:ext cx="4389120" cy="48920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bIns="228600"/>
          <a:lstStyle/>
          <a:p>
            <a:pPr algn="ctr">
              <a:spcAft>
                <a:spcPts val="600"/>
              </a:spcAft>
              <a:defRPr sz="950" b="1">
                <a:solidFill>
                  <a:srgbClr val="9A7B2C"/>
                </a:solidFill>
              </a:defRPr>
            </a:pPr>
            <a:r>
              <a:t>PORTAL ARCHITECTURE &amp; ACCESS CONTROL</a:t>
            </a:r>
          </a:p>
          <a:p>
            <a:pPr>
              <a:spcBef>
                <a:spcPts val="300"/>
              </a:spcBef>
              <a:defRPr sz="950" b="1">
                <a:solidFill>
                  <a:srgbClr val="1A1A1A"/>
                </a:solidFill>
              </a:defRPr>
            </a:pPr>
            <a:r>
              <a:t>•  Live Authentication Gateway (/login):</a:t>
            </a:r>
          </a:p>
          <a:p>
            <a:pPr>
              <a:defRPr sz="850">
                <a:solidFill>
                  <a:srgbClr val="5C5C5C"/>
                </a:solidFill>
              </a:defRPr>
            </a:pPr>
            <a:r>
              <a:t>   Production route enforces accredited investor entry with TLS 256-bit encryption, CSRF protection, and DPDP Act statutory disclosures.</a:t>
            </a:r>
          </a:p>
          <a:p>
            <a:pPr>
              <a:spcBef>
                <a:spcPts val="300"/>
              </a:spcBef>
              <a:defRPr sz="950" b="1">
                <a:solidFill>
                  <a:srgbClr val="1A1A1A"/>
                </a:solidFill>
              </a:defRPr>
            </a:pPr>
            <a:r>
              <a:t>•  Demonstration Tracking Dashboard:</a:t>
            </a:r>
          </a:p>
          <a:p>
            <a:pPr>
              <a:defRPr sz="850">
                <a:solidFill>
                  <a:srgbClr val="5C5C5C"/>
                </a:solidFill>
              </a:defRPr>
            </a:pPr>
            <a:r>
              <a:t>   Provides accredited investors with portfolio analytics: ₹50,00,000 Active Capital, Cumulative Coupon Yield, Debenture Series A/B allocation, and quarterly payout schedule.</a:t>
            </a:r>
          </a:p>
          <a:p>
            <a:pPr>
              <a:spcBef>
                <a:spcPts val="300"/>
              </a:spcBef>
              <a:defRPr sz="950" b="1">
                <a:solidFill>
                  <a:srgbClr val="1A1A1A"/>
                </a:solidFill>
              </a:defRPr>
            </a:pPr>
            <a:r>
              <a:t>•  Tax &amp; Compliance Ledger:</a:t>
            </a:r>
          </a:p>
          <a:p>
            <a:pPr>
              <a:defRPr sz="850">
                <a:solidFill>
                  <a:srgbClr val="5C5C5C"/>
                </a:solidFill>
              </a:defRPr>
            </a:pPr>
            <a:r>
              <a:t>   Displays annual Section 193 withholding certificates, Form 16A tracking, and regulatory audit trail.</a:t>
            </a:r>
          </a:p>
          <a:p>
            <a:pPr>
              <a:spcBef>
                <a:spcPts val="600"/>
              </a:spcBef>
              <a:spcAft>
                <a:spcPts val="200"/>
              </a:spcAft>
              <a:defRPr sz="850" b="1">
                <a:solidFill>
                  <a:srgbClr val="D97706"/>
                </a:solidFill>
              </a:defRPr>
            </a:pPr>
            <a:r>
              <a:t>AUTHENTICATION STATUS &amp; GOVERNANCE</a:t>
            </a:r>
          </a:p>
          <a:p>
            <a:pPr>
              <a:defRPr sz="850">
                <a:solidFill>
                  <a:srgbClr val="5C5C5C"/>
                </a:solidFill>
              </a:defRPr>
            </a:pPr>
            <a:r>
              <a:t>• Live vs Demonstration Distinction: The public login gateway is fully live on Vercel. Authenticated dashboard analytics operate in demonstration mode.</a:t>
            </a:r>
            <a:br/>
            <a:r>
              <a:t>• Data Safety: Zero live investor accounts or private financial records are exposed on the public web.</a:t>
            </a:r>
            <a:br/>
            <a:r>
              <a:t>• Backend Integration: Production database connectivity is scheduled for subsequent infrastructure sprint.</a:t>
            </a:r>
          </a:p>
        </p:txBody>
      </p:sp>
      <p:sp>
        <p:nvSpPr>
          <p:cNvPr id="7" name="Rounded Rectangle 6"/>
          <p:cNvSpPr/>
          <p:nvPr/>
        </p:nvSpPr>
        <p:spPr>
          <a:xfrm>
            <a:off x="5349240" y="1371600"/>
            <a:ext cx="6126480" cy="2286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07_investor_portal_entry.png"/>
          <p:cNvPicPr>
            <a:picLocks noChangeAspect="1"/>
          </p:cNvPicPr>
          <p:nvPr/>
        </p:nvPicPr>
        <p:blipFill>
          <a:blip r:embed="rId2"/>
          <a:stretch>
            <a:fillRect/>
          </a:stretch>
        </p:blipFill>
        <p:spPr>
          <a:xfrm>
            <a:off x="5413248" y="1426464"/>
            <a:ext cx="5998464" cy="1938528"/>
          </a:xfrm>
          <a:prstGeom prst="rect">
            <a:avLst/>
          </a:prstGeom>
        </p:spPr>
      </p:pic>
      <p:sp>
        <p:nvSpPr>
          <p:cNvPr id="9" name="TextBox 8"/>
          <p:cNvSpPr txBox="1"/>
          <p:nvPr/>
        </p:nvSpPr>
        <p:spPr>
          <a:xfrm>
            <a:off x="5413248" y="3401568"/>
            <a:ext cx="5998464" cy="219456"/>
          </a:xfrm>
          <a:prstGeom prst="rect">
            <a:avLst/>
          </a:prstGeom>
          <a:noFill/>
        </p:spPr>
        <p:txBody>
          <a:bodyPr wrap="none" tIns="0" bIns="0" lIns="0" rIns="0">
            <a:spAutoFit/>
          </a:bodyPr>
          <a:lstStyle/>
          <a:p>
            <a:pPr algn="ctr">
              <a:defRPr sz="800">
                <a:solidFill>
                  <a:srgbClr val="8A8A8A"/>
                </a:solidFill>
              </a:defRPr>
            </a:pPr>
            <a:r>
              <a:t>Live Gateway (/login): Accredited Investor Access Gate with 256-bit TLS</a:t>
            </a:r>
          </a:p>
        </p:txBody>
      </p:sp>
      <p:sp>
        <p:nvSpPr>
          <p:cNvPr id="10" name="Rounded Rectangle 9"/>
          <p:cNvSpPr/>
          <p:nvPr/>
        </p:nvSpPr>
        <p:spPr>
          <a:xfrm>
            <a:off x="5349240" y="3840480"/>
            <a:ext cx="6126480" cy="24231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07b_investor_dashboard_demo.png"/>
          <p:cNvPicPr>
            <a:picLocks noChangeAspect="1"/>
          </p:cNvPicPr>
          <p:nvPr/>
        </p:nvPicPr>
        <p:blipFill>
          <a:blip r:embed="rId3"/>
          <a:stretch>
            <a:fillRect/>
          </a:stretch>
        </p:blipFill>
        <p:spPr>
          <a:xfrm>
            <a:off x="5413248" y="3895344"/>
            <a:ext cx="5998464" cy="2066543"/>
          </a:xfrm>
          <a:prstGeom prst="rect">
            <a:avLst/>
          </a:prstGeom>
        </p:spPr>
      </p:pic>
      <p:sp>
        <p:nvSpPr>
          <p:cNvPr id="12" name="TextBox 11"/>
          <p:cNvSpPr txBox="1"/>
          <p:nvPr/>
        </p:nvSpPr>
        <p:spPr>
          <a:xfrm>
            <a:off x="5413248" y="5998464"/>
            <a:ext cx="5998464" cy="219456"/>
          </a:xfrm>
          <a:prstGeom prst="rect">
            <a:avLst/>
          </a:prstGeom>
          <a:noFill/>
        </p:spPr>
        <p:txBody>
          <a:bodyPr wrap="none" tIns="0" bIns="0" lIns="0" rIns="0">
            <a:spAutoFit/>
          </a:bodyPr>
          <a:lstStyle/>
          <a:p>
            <a:pPr algn="ctr">
              <a:defRPr sz="800">
                <a:solidFill>
                  <a:srgbClr val="8A8A8A"/>
                </a:solidFill>
              </a:defRPr>
            </a:pPr>
            <a:r>
              <a:t>Verified Demonstration Dashboard: Debenture Holdings, Returns &amp; Cash-Flow Forecast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TextBox 1"/>
          <p:cNvSpPr txBox="1"/>
          <p:nvPr/>
        </p:nvSpPr>
        <p:spPr>
          <a:xfrm>
            <a:off x="731520" y="365760"/>
            <a:ext cx="8229600" cy="228600"/>
          </a:xfrm>
          <a:prstGeom prst="rect">
            <a:avLst/>
          </a:prstGeom>
          <a:noFill/>
        </p:spPr>
        <p:txBody>
          <a:bodyPr wrap="none" tIns="0" bIns="0" lIns="0" rIns="0">
            <a:spAutoFit/>
          </a:bodyPr>
          <a:lstStyle/>
          <a:p>
            <a:pPr>
              <a:defRPr sz="950" b="1">
                <a:solidFill>
                  <a:srgbClr val="9A7B2C"/>
                </a:solidFill>
              </a:defRPr>
            </a:pPr>
            <a:r>
              <a:t>PLATFORM READINESS OVERVIEW</a:t>
            </a:r>
          </a:p>
        </p:txBody>
      </p:sp>
      <p:sp>
        <p:nvSpPr>
          <p:cNvPr id="3" name="TextBox 2"/>
          <p:cNvSpPr txBox="1"/>
          <p:nvPr/>
        </p:nvSpPr>
        <p:spPr>
          <a:xfrm>
            <a:off x="731520" y="594360"/>
            <a:ext cx="8229600" cy="594360"/>
          </a:xfrm>
          <a:prstGeom prst="rect">
            <a:avLst/>
          </a:prstGeom>
          <a:noFill/>
        </p:spPr>
        <p:txBody>
          <a:bodyPr wrap="square" tIns="0" bIns="0" lIns="0" rIns="0">
            <a:spAutoFit/>
          </a:bodyPr>
          <a:lstStyle/>
          <a:p>
            <a:pPr>
              <a:defRPr sz="2100" b="1">
                <a:solidFill>
                  <a:srgbClr val="1A1A1A"/>
                </a:solidFill>
              </a:defRPr>
            </a:pPr>
            <a:r>
              <a:t>Summary of Website Features &amp; Verification Status</a:t>
            </a:r>
          </a:p>
        </p:txBody>
      </p:sp>
      <p:sp>
        <p:nvSpPr>
          <p:cNvPr id="4" name="Rounded Rectangle 3"/>
          <p:cNvSpPr/>
          <p:nvPr/>
        </p:nvSpPr>
        <p:spPr>
          <a:xfrm>
            <a:off x="9052560" y="502920"/>
            <a:ext cx="2377440" cy="329184"/>
          </a:xfrm>
          <a:prstGeom prst="roundRect">
            <a:avLst/>
          </a:prstGeom>
          <a:solidFill>
            <a:srgbClr val="FEF3C7"/>
          </a:solidFill>
          <a:ln w="1270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D97706"/>
                </a:solidFill>
              </a:defRPr>
            </a:pPr>
            <a:r>
              <a:t>VERIFIED SUITE</a:t>
            </a:r>
          </a:p>
        </p:txBody>
      </p:sp>
      <p:sp>
        <p:nvSpPr>
          <p:cNvPr id="5" name="TextBox 4"/>
          <p:cNvSpPr txBox="1"/>
          <p:nvPr/>
        </p:nvSpPr>
        <p:spPr>
          <a:xfrm>
            <a:off x="10789920" y="6492240"/>
            <a:ext cx="731520" cy="274320"/>
          </a:xfrm>
          <a:prstGeom prst="rect">
            <a:avLst/>
          </a:prstGeom>
          <a:noFill/>
        </p:spPr>
        <p:txBody>
          <a:bodyPr wrap="none" tIns="0" bIns="0" lIns="0" rIns="0">
            <a:spAutoFit/>
          </a:bodyPr>
          <a:lstStyle/>
          <a:p>
            <a:pPr algn="r">
              <a:defRPr sz="900">
                <a:solidFill>
                  <a:srgbClr val="8A8A8A"/>
                </a:solidFill>
              </a:defRPr>
            </a:pPr>
            <a:r>
              <a:t>08 / 08</a:t>
            </a:r>
          </a:p>
        </p:txBody>
      </p:sp>
      <p:sp>
        <p:nvSpPr>
          <p:cNvPr id="6" name="Rounded Rectangle 5"/>
          <p:cNvSpPr/>
          <p:nvPr/>
        </p:nvSpPr>
        <p:spPr>
          <a:xfrm>
            <a:off x="731520" y="1234440"/>
            <a:ext cx="10728655" cy="6400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143000" rIns="2011680" tIns="73152" bIns="54864"/>
          <a:lstStyle/>
          <a:p>
            <a:pPr algn="ctr">
              <a:defRPr sz="1050" b="1">
                <a:solidFill>
                  <a:srgbClr val="1A1A1A"/>
                </a:solidFill>
              </a:defRPr>
            </a:pPr>
            <a:r>
              <a:t>01. Website Overview &amp; Navigation</a:t>
            </a:r>
          </a:p>
          <a:p>
            <a:pPr>
              <a:defRPr sz="850">
                <a:solidFill>
                  <a:srgbClr val="5C5C5C"/>
                </a:solidFill>
              </a:defRPr>
            </a:pPr>
            <a:r>
              <a:t>Institutional landing page, core service pillars, responsive navigation bar, and trust metrics.</a:t>
            </a:r>
          </a:p>
        </p:txBody>
      </p:sp>
      <p:pic>
        <p:nvPicPr>
          <p:cNvPr id="7" name="Picture 6" descr="01_home_overview.png"/>
          <p:cNvPicPr>
            <a:picLocks noChangeAspect="1"/>
          </p:cNvPicPr>
          <p:nvPr/>
        </p:nvPicPr>
        <p:blipFill>
          <a:blip r:embed="rId2"/>
          <a:stretch>
            <a:fillRect/>
          </a:stretch>
        </p:blipFill>
        <p:spPr>
          <a:xfrm>
            <a:off x="868680" y="1289304"/>
            <a:ext cx="868680" cy="603250"/>
          </a:xfrm>
          <a:prstGeom prst="rect">
            <a:avLst/>
          </a:prstGeom>
        </p:spPr>
      </p:pic>
      <p:sp>
        <p:nvSpPr>
          <p:cNvPr id="8" name="Rounded Rectangle 7"/>
          <p:cNvSpPr/>
          <p:nvPr/>
        </p:nvSpPr>
        <p:spPr>
          <a:xfrm>
            <a:off x="9601200" y="1380744"/>
            <a:ext cx="1737360" cy="329184"/>
          </a:xfrm>
          <a:prstGeom prst="roundRect">
            <a:avLst/>
          </a:prstGeom>
          <a:solidFill>
            <a:srgbClr val="ECFDF5"/>
          </a:solidFill>
          <a:ln w="1270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059669"/>
                </a:solidFill>
              </a:defRPr>
            </a:pPr>
            <a:r>
              <a:t>LIVE</a:t>
            </a:r>
          </a:p>
        </p:txBody>
      </p:sp>
      <p:sp>
        <p:nvSpPr>
          <p:cNvPr id="9" name="Rounded Rectangle 8"/>
          <p:cNvSpPr/>
          <p:nvPr/>
        </p:nvSpPr>
        <p:spPr>
          <a:xfrm>
            <a:off x="731520" y="1947672"/>
            <a:ext cx="10728655" cy="6400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143000" rIns="2011680" tIns="73152" bIns="54864"/>
          <a:lstStyle/>
          <a:p>
            <a:pPr algn="ctr">
              <a:defRPr sz="1050" b="1">
                <a:solidFill>
                  <a:srgbClr val="1A1A1A"/>
                </a:solidFill>
              </a:defRPr>
            </a:pPr>
            <a:r>
              <a:t>02. Client Meeting / Consultation Panel</a:t>
            </a:r>
          </a:p>
          <a:p>
            <a:pPr>
              <a:defRPr sz="850">
                <a:solidFill>
                  <a:srgbClr val="5C5C5C"/>
                </a:solidFill>
              </a:defRPr>
            </a:pPr>
            <a:r>
              <a:t>Asynchronous 3-step appointment intake with category selection, capital range, and tracking ID.</a:t>
            </a:r>
          </a:p>
        </p:txBody>
      </p:sp>
      <p:pic>
        <p:nvPicPr>
          <p:cNvPr id="10" name="Picture 9" descr="02_schedule_meeting_panel.png"/>
          <p:cNvPicPr>
            <a:picLocks noChangeAspect="1"/>
          </p:cNvPicPr>
          <p:nvPr/>
        </p:nvPicPr>
        <p:blipFill>
          <a:blip r:embed="rId3"/>
          <a:stretch>
            <a:fillRect/>
          </a:stretch>
        </p:blipFill>
        <p:spPr>
          <a:xfrm>
            <a:off x="868680" y="2002536"/>
            <a:ext cx="868680" cy="603250"/>
          </a:xfrm>
          <a:prstGeom prst="rect">
            <a:avLst/>
          </a:prstGeom>
        </p:spPr>
      </p:pic>
      <p:sp>
        <p:nvSpPr>
          <p:cNvPr id="11" name="Rounded Rectangle 10"/>
          <p:cNvSpPr/>
          <p:nvPr/>
        </p:nvSpPr>
        <p:spPr>
          <a:xfrm>
            <a:off x="9601200" y="2093976"/>
            <a:ext cx="1737360" cy="329184"/>
          </a:xfrm>
          <a:prstGeom prst="roundRect">
            <a:avLst/>
          </a:prstGeom>
          <a:solidFill>
            <a:srgbClr val="ECFDF5"/>
          </a:solidFill>
          <a:ln w="1270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059669"/>
                </a:solidFill>
              </a:defRPr>
            </a:pPr>
            <a:r>
              <a:t>LIVE</a:t>
            </a:r>
          </a:p>
        </p:txBody>
      </p:sp>
      <p:sp>
        <p:nvSpPr>
          <p:cNvPr id="12" name="Rounded Rectangle 11"/>
          <p:cNvSpPr/>
          <p:nvPr/>
        </p:nvSpPr>
        <p:spPr>
          <a:xfrm>
            <a:off x="731520" y="2660904"/>
            <a:ext cx="10728655" cy="6400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143000" rIns="2011680" tIns="73152" bIns="54864"/>
          <a:lstStyle/>
          <a:p>
            <a:pPr algn="ctr">
              <a:defRPr sz="1050" b="1">
                <a:solidFill>
                  <a:srgbClr val="1A1A1A"/>
                </a:solidFill>
              </a:defRPr>
            </a:pPr>
            <a:r>
              <a:t>03. Real Estate Project Funding Portal</a:t>
            </a:r>
          </a:p>
          <a:p>
            <a:pPr>
              <a:defRPr sz="850">
                <a:solidFill>
                  <a:srgbClr val="5C5C5C"/>
                </a:solidFill>
              </a:defRPr>
            </a:pPr>
            <a:r>
              <a:t>3-stage developer funding evaluation (/project-funding/) with 5-point institutional document checklist.</a:t>
            </a:r>
          </a:p>
        </p:txBody>
      </p:sp>
      <p:pic>
        <p:nvPicPr>
          <p:cNvPr id="13" name="Picture 12" descr="03b_project_funding_step2.png"/>
          <p:cNvPicPr>
            <a:picLocks noChangeAspect="1"/>
          </p:cNvPicPr>
          <p:nvPr/>
        </p:nvPicPr>
        <p:blipFill>
          <a:blip r:embed="rId4"/>
          <a:stretch>
            <a:fillRect/>
          </a:stretch>
        </p:blipFill>
        <p:spPr>
          <a:xfrm>
            <a:off x="868680" y="2715768"/>
            <a:ext cx="868680" cy="603250"/>
          </a:xfrm>
          <a:prstGeom prst="rect">
            <a:avLst/>
          </a:prstGeom>
        </p:spPr>
      </p:pic>
      <p:sp>
        <p:nvSpPr>
          <p:cNvPr id="14" name="Rounded Rectangle 13"/>
          <p:cNvSpPr/>
          <p:nvPr/>
        </p:nvSpPr>
        <p:spPr>
          <a:xfrm>
            <a:off x="9601200" y="2807208"/>
            <a:ext cx="1737360" cy="329184"/>
          </a:xfrm>
          <a:prstGeom prst="roundRect">
            <a:avLst/>
          </a:prstGeom>
          <a:solidFill>
            <a:srgbClr val="ECFDF5"/>
          </a:solidFill>
          <a:ln w="1270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059669"/>
                </a:solidFill>
              </a:defRPr>
            </a:pPr>
            <a:r>
              <a:t>LIVE</a:t>
            </a:r>
          </a:p>
        </p:txBody>
      </p:sp>
      <p:sp>
        <p:nvSpPr>
          <p:cNvPr id="15" name="Rounded Rectangle 14"/>
          <p:cNvSpPr/>
          <p:nvPr/>
        </p:nvSpPr>
        <p:spPr>
          <a:xfrm>
            <a:off x="731520" y="3374136"/>
            <a:ext cx="10728655" cy="6400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143000" rIns="2011680" tIns="73152" bIns="54864"/>
          <a:lstStyle/>
          <a:p>
            <a:pPr algn="ctr">
              <a:defRPr sz="1050" b="1">
                <a:solidFill>
                  <a:srgbClr val="1A1A1A"/>
                </a:solidFill>
              </a:defRPr>
            </a:pPr>
            <a:r>
              <a:t>04. Website Advisory Chatbot</a:t>
            </a:r>
          </a:p>
          <a:p>
            <a:pPr>
              <a:defRPr sz="850">
                <a:solidFill>
                  <a:srgbClr val="5C5C5C"/>
                </a:solidFill>
              </a:defRPr>
            </a:pPr>
            <a:r>
              <a:t>Grounded client assistant for 24/7 navigation guidance and investment parameter qualification.</a:t>
            </a:r>
          </a:p>
        </p:txBody>
      </p:sp>
      <p:pic>
        <p:nvPicPr>
          <p:cNvPr id="16" name="Picture 15" descr="04_chatbot_closeup.png"/>
          <p:cNvPicPr>
            <a:picLocks noChangeAspect="1"/>
          </p:cNvPicPr>
          <p:nvPr/>
        </p:nvPicPr>
        <p:blipFill>
          <a:blip r:embed="rId5"/>
          <a:stretch>
            <a:fillRect/>
          </a:stretch>
        </p:blipFill>
        <p:spPr>
          <a:xfrm>
            <a:off x="868680" y="3429000"/>
            <a:ext cx="868680" cy="1186859"/>
          </a:xfrm>
          <a:prstGeom prst="rect">
            <a:avLst/>
          </a:prstGeom>
        </p:spPr>
      </p:pic>
      <p:sp>
        <p:nvSpPr>
          <p:cNvPr id="17" name="Rounded Rectangle 16"/>
          <p:cNvSpPr/>
          <p:nvPr/>
        </p:nvSpPr>
        <p:spPr>
          <a:xfrm>
            <a:off x="9601200" y="3520440"/>
            <a:ext cx="1737360" cy="329184"/>
          </a:xfrm>
          <a:prstGeom prst="roundRect">
            <a:avLst/>
          </a:prstGeom>
          <a:solidFill>
            <a:srgbClr val="ECFDF5"/>
          </a:solidFill>
          <a:ln w="1270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059669"/>
                </a:solidFill>
              </a:defRPr>
            </a:pPr>
            <a:r>
              <a:t>LIVE</a:t>
            </a:r>
          </a:p>
        </p:txBody>
      </p:sp>
      <p:sp>
        <p:nvSpPr>
          <p:cNvPr id="18" name="Rounded Rectangle 17"/>
          <p:cNvSpPr/>
          <p:nvPr/>
        </p:nvSpPr>
        <p:spPr>
          <a:xfrm>
            <a:off x="731520" y="4087368"/>
            <a:ext cx="10728655" cy="6400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143000" rIns="2011680" tIns="73152" bIns="54864"/>
          <a:lstStyle/>
          <a:p>
            <a:pPr algn="ctr">
              <a:defRPr sz="1050" b="1">
                <a:solidFill>
                  <a:srgbClr val="1A1A1A"/>
                </a:solidFill>
              </a:defRPr>
            </a:pPr>
            <a:r>
              <a:t>05. Investment Return Calculator</a:t>
            </a:r>
          </a:p>
          <a:p>
            <a:pPr>
              <a:defRPr sz="850">
                <a:solidFill>
                  <a:srgbClr val="5C5C5C"/>
                </a:solidFill>
              </a:defRPr>
            </a:pPr>
            <a:r>
              <a:t>Interactive debenture return modeller with simple interest formula, Section 193 TDS, and cash-flow schedule.</a:t>
            </a:r>
          </a:p>
        </p:txBody>
      </p:sp>
      <p:pic>
        <p:nvPicPr>
          <p:cNvPr id="19" name="Picture 18" descr="05_calculator_interface.png"/>
          <p:cNvPicPr>
            <a:picLocks noChangeAspect="1"/>
          </p:cNvPicPr>
          <p:nvPr/>
        </p:nvPicPr>
        <p:blipFill>
          <a:blip r:embed="rId6"/>
          <a:stretch>
            <a:fillRect/>
          </a:stretch>
        </p:blipFill>
        <p:spPr>
          <a:xfrm>
            <a:off x="868680" y="4142232"/>
            <a:ext cx="868680" cy="603250"/>
          </a:xfrm>
          <a:prstGeom prst="rect">
            <a:avLst/>
          </a:prstGeom>
        </p:spPr>
      </p:pic>
      <p:sp>
        <p:nvSpPr>
          <p:cNvPr id="20" name="Rounded Rectangle 19"/>
          <p:cNvSpPr/>
          <p:nvPr/>
        </p:nvSpPr>
        <p:spPr>
          <a:xfrm>
            <a:off x="9601200" y="4233672"/>
            <a:ext cx="1737360" cy="329184"/>
          </a:xfrm>
          <a:prstGeom prst="roundRect">
            <a:avLst/>
          </a:prstGeom>
          <a:solidFill>
            <a:srgbClr val="ECFDF5"/>
          </a:solidFill>
          <a:ln w="1270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059669"/>
                </a:solidFill>
              </a:defRPr>
            </a:pPr>
            <a:r>
              <a:t>LIVE (ILLUS)</a:t>
            </a:r>
          </a:p>
        </p:txBody>
      </p:sp>
      <p:sp>
        <p:nvSpPr>
          <p:cNvPr id="21" name="Rounded Rectangle 20"/>
          <p:cNvSpPr/>
          <p:nvPr/>
        </p:nvSpPr>
        <p:spPr>
          <a:xfrm>
            <a:off x="731520" y="4800600"/>
            <a:ext cx="10728655" cy="6400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143000" rIns="2011680" tIns="73152" bIns="54864"/>
          <a:lstStyle/>
          <a:p>
            <a:pPr algn="ctr">
              <a:defRPr sz="1050" b="1">
                <a:solidFill>
                  <a:srgbClr val="1A1A1A"/>
                </a:solidFill>
              </a:defRPr>
            </a:pPr>
            <a:r>
              <a:t>06. 25-Branch Office Directory</a:t>
            </a:r>
          </a:p>
          <a:p>
            <a:pPr>
              <a:defRPr sz="850">
                <a:solidFill>
                  <a:srgbClr val="5C5C5C"/>
                </a:solidFill>
              </a:defRPr>
            </a:pPr>
            <a:r>
              <a:t>Complete 25-location directory across 6 states with Gwalior Head Office and Delhi operational desk.</a:t>
            </a:r>
          </a:p>
        </p:txBody>
      </p:sp>
      <p:pic>
        <p:nvPicPr>
          <p:cNvPr id="22" name="Picture 21" descr="06a_branch_directory_head_office.png"/>
          <p:cNvPicPr>
            <a:picLocks noChangeAspect="1"/>
          </p:cNvPicPr>
          <p:nvPr/>
        </p:nvPicPr>
        <p:blipFill>
          <a:blip r:embed="rId7"/>
          <a:stretch>
            <a:fillRect/>
          </a:stretch>
        </p:blipFill>
        <p:spPr>
          <a:xfrm>
            <a:off x="868680" y="4855464"/>
            <a:ext cx="868680" cy="603250"/>
          </a:xfrm>
          <a:prstGeom prst="rect">
            <a:avLst/>
          </a:prstGeom>
        </p:spPr>
      </p:pic>
      <p:sp>
        <p:nvSpPr>
          <p:cNvPr id="23" name="Rounded Rectangle 22"/>
          <p:cNvSpPr/>
          <p:nvPr/>
        </p:nvSpPr>
        <p:spPr>
          <a:xfrm>
            <a:off x="9601200" y="4946904"/>
            <a:ext cx="1737360" cy="329184"/>
          </a:xfrm>
          <a:prstGeom prst="roundRect">
            <a:avLst/>
          </a:prstGeom>
          <a:solidFill>
            <a:srgbClr val="ECFDF5"/>
          </a:solidFill>
          <a:ln w="1270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059669"/>
                </a:solidFill>
              </a:defRPr>
            </a:pPr>
            <a:r>
              <a:t>LIVE</a:t>
            </a:r>
          </a:p>
        </p:txBody>
      </p:sp>
      <p:sp>
        <p:nvSpPr>
          <p:cNvPr id="24" name="Rounded Rectangle 23"/>
          <p:cNvSpPr/>
          <p:nvPr/>
        </p:nvSpPr>
        <p:spPr>
          <a:xfrm>
            <a:off x="731520" y="5513832"/>
            <a:ext cx="10728655" cy="6400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143000" rIns="2011680" tIns="73152" bIns="54864"/>
          <a:lstStyle/>
          <a:p>
            <a:pPr algn="ctr">
              <a:defRPr sz="1050" b="1">
                <a:solidFill>
                  <a:srgbClr val="1A1A1A"/>
                </a:solidFill>
              </a:defRPr>
            </a:pPr>
            <a:r>
              <a:t>07. Investor Portal &amp; Tracking</a:t>
            </a:r>
          </a:p>
          <a:p>
            <a:pPr>
              <a:defRPr sz="850">
                <a:solidFill>
                  <a:srgbClr val="5C5C5C"/>
                </a:solidFill>
              </a:defRPr>
            </a:pPr>
            <a:r>
              <a:t>Accredited login gate with 256-bit TLS; demonstration dashboard showing ₹50L holdings and returns.</a:t>
            </a:r>
          </a:p>
        </p:txBody>
      </p:sp>
      <p:pic>
        <p:nvPicPr>
          <p:cNvPr id="25" name="Picture 24" descr="07_investor_portal_entry.png"/>
          <p:cNvPicPr>
            <a:picLocks noChangeAspect="1"/>
          </p:cNvPicPr>
          <p:nvPr/>
        </p:nvPicPr>
        <p:blipFill>
          <a:blip r:embed="rId8"/>
          <a:stretch>
            <a:fillRect/>
          </a:stretch>
        </p:blipFill>
        <p:spPr>
          <a:xfrm>
            <a:off x="868680" y="5568696"/>
            <a:ext cx="868680" cy="603250"/>
          </a:xfrm>
          <a:prstGeom prst="rect">
            <a:avLst/>
          </a:prstGeom>
        </p:spPr>
      </p:pic>
      <p:sp>
        <p:nvSpPr>
          <p:cNvPr id="26" name="Rounded Rectangle 25"/>
          <p:cNvSpPr/>
          <p:nvPr/>
        </p:nvSpPr>
        <p:spPr>
          <a:xfrm>
            <a:off x="9601200" y="5660136"/>
            <a:ext cx="1737360" cy="329184"/>
          </a:xfrm>
          <a:prstGeom prst="roundRect">
            <a:avLst/>
          </a:prstGeom>
          <a:solidFill>
            <a:srgbClr val="FEF3C7"/>
          </a:solidFill>
          <a:ln w="1270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D97706"/>
                </a:solidFill>
              </a:defRPr>
            </a:pPr>
            <a:r>
              <a:t>GATE LIVE / DASH DEMO</a:t>
            </a:r>
          </a:p>
        </p:txBody>
      </p:sp>
      <p:sp>
        <p:nvSpPr>
          <p:cNvPr id="27" name="TextBox 26"/>
          <p:cNvSpPr txBox="1"/>
          <p:nvPr/>
        </p:nvSpPr>
        <p:spPr>
          <a:xfrm>
            <a:off x="731520" y="6309360"/>
            <a:ext cx="10058400" cy="274320"/>
          </a:xfrm>
          <a:prstGeom prst="rect">
            <a:avLst/>
          </a:prstGeom>
          <a:noFill/>
        </p:spPr>
        <p:txBody>
          <a:bodyPr wrap="none" tIns="0" bIns="0" lIns="0" rIns="0">
            <a:spAutoFit/>
          </a:bodyPr>
          <a:lstStyle/>
          <a:p>
            <a:pPr>
              <a:defRPr sz="850">
                <a:solidFill>
                  <a:srgbClr val="5C5C5C"/>
                </a:solidFill>
              </a:defRPr>
            </a:pPr>
            <a:r>
              <a:t>Live Deployment: https://niventra-capital-advisory.vercel.app/  |  Repository: https://github.com/Ar10Ansari/niventra-capital-advisory  |  All screenshots verified from production build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